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5.xml" ContentType="application/vnd.openxmlformats-officedocument.presentationml.notesSlide+xml"/>
  <Override PartName="/ppt/ink/ink3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0"/>
  </p:notesMasterIdLst>
  <p:sldIdLst>
    <p:sldId id="385" r:id="rId2"/>
    <p:sldId id="387" r:id="rId3"/>
    <p:sldId id="412" r:id="rId4"/>
    <p:sldId id="415" r:id="rId5"/>
    <p:sldId id="413" r:id="rId6"/>
    <p:sldId id="418" r:id="rId7"/>
    <p:sldId id="414" r:id="rId8"/>
    <p:sldId id="288" r:id="rId9"/>
  </p:sldIdLst>
  <p:sldSz cx="9144000" cy="6858000" type="screen4x3"/>
  <p:notesSz cx="6735763" cy="9866313"/>
  <p:embeddedFontLst>
    <p:embeddedFont>
      <p:font typeface="맑은 고딕" panose="020B0503020000020004" pitchFamily="50" charset="-127"/>
      <p:regular r:id="rId11"/>
      <p:bold r:id="rId12"/>
    </p:embeddedFont>
    <p:embeddedFont>
      <p:font typeface="프리젠테이션 4 Regular" pitchFamily="2" charset="-127"/>
      <p:regular r:id="rId13"/>
    </p:embeddedFont>
    <p:embeddedFont>
      <p:font typeface="프리젠테이션 5 Medium" pitchFamily="2" charset="-127"/>
      <p:regular r:id="rId14"/>
    </p:embeddedFont>
    <p:embeddedFont>
      <p:font typeface="프리젠테이션 6 SemiBold" pitchFamily="2" charset="-127"/>
      <p:bold r:id="rId15"/>
    </p:embeddedFont>
    <p:embeddedFont>
      <p:font typeface="프리젠테이션 7 Bold" pitchFamily="2" charset="-127"/>
      <p:bold r:id="rId16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TxStyle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TxStyle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TxStyle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TxStyle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99" autoAdjust="0"/>
    <p:restoredTop sz="95216" autoAdjust="0"/>
  </p:normalViewPr>
  <p:slideViewPr>
    <p:cSldViewPr snapToGrid="0">
      <p:cViewPr varScale="1">
        <p:scale>
          <a:sx n="110" d="100"/>
          <a:sy n="110" d="100"/>
        </p:scale>
        <p:origin x="1674" y="114"/>
      </p:cViewPr>
      <p:guideLst>
        <p:guide orient="horz" pos="2137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128" d="100"/>
          <a:sy n="128" d="100"/>
        </p:scale>
        <p:origin x="1086" y="12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1-06T09:33:42.96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0,'572'572,"772"772,-1342-1341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1-06T09:34:02.19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0,'572'572,"772"772,-1342-1341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1-06T09:35:20.20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0,'284'284,"384"384,-667-667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18830" cy="495029"/>
          </a:xfrm>
          <a:prstGeom prst="rect">
            <a:avLst/>
          </a:prstGeom>
        </p:spPr>
        <p:txBody>
          <a:bodyPr vert="horz" lIns="94866" tIns="47433" rIns="94866" bIns="47433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5374" y="0"/>
            <a:ext cx="2918830" cy="495029"/>
          </a:xfrm>
          <a:prstGeom prst="rect">
            <a:avLst/>
          </a:prstGeom>
        </p:spPr>
        <p:txBody>
          <a:bodyPr vert="horz" lIns="94866" tIns="47433" rIns="94866" bIns="47433"/>
          <a:lstStyle>
            <a:lvl1pPr algn="r">
              <a:defRPr sz="1200"/>
            </a:lvl1pPr>
          </a:lstStyle>
          <a:p>
            <a:pPr lvl="0">
              <a:defRPr/>
            </a:pPr>
            <a:fld id="{0C4D5919-A87D-4A5B-AF55-CA191C228D6A}" type="datetime1">
              <a:rPr lang="ko-KR" altLang="en-US"/>
              <a:pPr lvl="0">
                <a:defRPr/>
              </a:pPr>
              <a:t>2025-01-06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7498" y="1233488"/>
            <a:ext cx="4440766" cy="3330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866" tIns="47433" rIns="94866" bIns="47433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4866" tIns="47433" rIns="94866" bIns="47433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371286"/>
            <a:ext cx="2918830" cy="495028"/>
          </a:xfrm>
          <a:prstGeom prst="rect">
            <a:avLst/>
          </a:prstGeom>
        </p:spPr>
        <p:txBody>
          <a:bodyPr vert="horz" lIns="94866" tIns="47433" rIns="94866" bIns="47433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5374" y="9371286"/>
            <a:ext cx="2918830" cy="495028"/>
          </a:xfrm>
          <a:prstGeom prst="rect">
            <a:avLst/>
          </a:prstGeom>
        </p:spPr>
        <p:txBody>
          <a:bodyPr vert="horz" lIns="94866" tIns="47433" rIns="94866" bIns="47433" anchor="b"/>
          <a:lstStyle>
            <a:lvl1pPr algn="r">
              <a:defRPr sz="1200"/>
            </a:lvl1pPr>
          </a:lstStyle>
          <a:p>
            <a:pPr lvl="0">
              <a:defRPr/>
            </a:pPr>
            <a:fld id="{7A940906-6E0F-49AD-AFE1-310B60F1DA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7763" y="1233488"/>
            <a:ext cx="4440237" cy="333057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fld id="{7A940906-6E0F-49AD-AFE1-310B60F1DA5F}" type="slidenum">
              <a:rPr kumimoji="0" lang="en-US" altLang="en-US" sz="1200" b="0" i="0" u="none" strike="noStrike" kern="1200" cap="none" spc="0" normalizeH="0" baseline="0"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pPr marL="0" marR="0" lvl="0" indent="0" algn="r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t>2</a:t>
            </a:fld>
            <a:endParaRPr kumimoji="0" lang="en-US" altLang="en-US" sz="1200" b="0" i="0" u="none" strike="noStrike" kern="1200" cap="none" spc="0" normalizeH="0" baseline="0"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AAA6B-CDB8-D51B-E29D-B1DF67D8E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F1BDA60-BB0E-4666-BE31-56EE73C2828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7763" y="1233488"/>
            <a:ext cx="4440237" cy="333057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2B51662-4C21-71CA-7669-BDBF05E000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830F990-2D53-01FF-1F7D-F7F1CF073E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fld id="{7A940906-6E0F-49AD-AFE1-310B60F1DA5F}" type="slidenum">
              <a:rPr kumimoji="0" lang="en-US" altLang="en-US" sz="1200" b="0" i="0" u="none" strike="noStrike" kern="1200" cap="none" spc="0" normalizeH="0" baseline="0"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pPr marL="0" marR="0" lvl="0" indent="0" algn="r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t>3</a:t>
            </a:fld>
            <a:endParaRPr kumimoji="0" lang="en-US" altLang="en-US" sz="1200" b="0" i="0" u="none" strike="noStrike" kern="1200" cap="none" spc="0" normalizeH="0" baseline="0"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52064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AC4A0-DCB4-C652-0A5E-747D27F67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BCFEE9D-7D13-4304-5388-285602D41EF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7763" y="1233488"/>
            <a:ext cx="4440237" cy="333057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7B01BDE-4100-1272-450D-67D24A60B7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59B76A4-3059-F763-6C7E-13FB0C1EE6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fld id="{7A940906-6E0F-49AD-AFE1-310B60F1DA5F}" type="slidenum">
              <a:rPr kumimoji="0" lang="en-US" altLang="en-US" sz="1200" b="0" i="0" u="none" strike="noStrike" kern="1200" cap="none" spc="0" normalizeH="0" baseline="0"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pPr marL="0" marR="0" lvl="0" indent="0" algn="r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t>4</a:t>
            </a:fld>
            <a:endParaRPr kumimoji="0" lang="en-US" altLang="en-US" sz="1200" b="0" i="0" u="none" strike="noStrike" kern="1200" cap="none" spc="0" normalizeH="0" baseline="0"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63791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97105-B293-716C-1413-FE39F47A1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A805B08-C7C6-DE55-FB0F-D3FDB82F9E4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7763" y="1233488"/>
            <a:ext cx="4440237" cy="333057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191EEDE-2C6E-E621-CE17-47AAE4E255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0C66BC9-874B-56A3-FB42-BE913A4CB7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fld id="{7A940906-6E0F-49AD-AFE1-310B60F1DA5F}" type="slidenum">
              <a:rPr kumimoji="0" lang="en-US" altLang="en-US" sz="1200" b="0" i="0" u="none" strike="noStrike" kern="1200" cap="none" spc="0" normalizeH="0" baseline="0"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pPr marL="0" marR="0" lvl="0" indent="0" algn="r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t>5</a:t>
            </a:fld>
            <a:endParaRPr kumimoji="0" lang="en-US" altLang="en-US" sz="1200" b="0" i="0" u="none" strike="noStrike" kern="1200" cap="none" spc="0" normalizeH="0" baseline="0"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92451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2F1B6-61AE-5897-E604-FD96B6E28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5396C92-B5D4-3DC3-8EA4-C80275C18B3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7763" y="1233488"/>
            <a:ext cx="4440237" cy="333057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86C6368-D964-CCDD-E726-E94AD3B234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9A03431-2C78-09CF-7494-DD7316F84E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fld id="{7A940906-6E0F-49AD-AFE1-310B60F1DA5F}" type="slidenum">
              <a:rPr kumimoji="0" lang="en-US" altLang="en-US" sz="1200" b="0" i="0" u="none" strike="noStrike" kern="1200" cap="none" spc="0" normalizeH="0" baseline="0"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pPr marL="0" marR="0" lvl="0" indent="0" algn="r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t>6</a:t>
            </a:fld>
            <a:endParaRPr kumimoji="0" lang="en-US" altLang="en-US" sz="1200" b="0" i="0" u="none" strike="noStrike" kern="1200" cap="none" spc="0" normalizeH="0" baseline="0"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67743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D7B5C-BDCF-CDFC-5088-20E6F70B8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799A094-AB1E-6DEA-2619-4CAAD3473AF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7763" y="1233488"/>
            <a:ext cx="4440237" cy="333057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FB64B0B-3C4F-7108-A422-7F28B03552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1E9AE0D-CFB4-C714-1B0D-7C1CD41993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fld id="{7A940906-6E0F-49AD-AFE1-310B60F1DA5F}" type="slidenum">
              <a:rPr kumimoji="0" lang="en-US" altLang="en-US" sz="1200" b="0" i="0" u="none" strike="noStrike" kern="1200" cap="none" spc="0" normalizeH="0" baseline="0"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pPr marL="0" marR="0" lvl="0" indent="0" algn="r" defTabSz="914400" rtl="0" eaLnBrk="1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t>7</a:t>
            </a:fld>
            <a:endParaRPr kumimoji="0" lang="en-US" altLang="en-US" sz="1200" b="0" i="0" u="none" strike="noStrike" kern="1200" cap="none" spc="0" normalizeH="0" baseline="0">
              <a:solidFill>
                <a:prstClr val="black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71698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7763" y="1233488"/>
            <a:ext cx="4440237" cy="333057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A940906-6E0F-49AD-AFE1-310B60F1DA5F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D92079E5-92B3-4712-8512-652B7A87FA04}" type="datetime1">
              <a:rPr lang="ko-KR" altLang="en-US"/>
              <a:pPr lvl="0">
                <a:defRPr/>
              </a:pPr>
              <a:t>2025-01-06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1E33FF7C-8566-45B7-B9A1-9079E74E472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3AC67ADD-097A-4D20-9AF0-5BD2379D0CA1}" type="datetime1">
              <a:rPr lang="ko-KR" altLang="en-US"/>
              <a:pPr lvl="0">
                <a:defRPr/>
              </a:pPr>
              <a:t>2025-01-06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1E33FF7C-8566-45B7-B9A1-9079E74E472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ECAB865F-DE10-462E-BA82-6E5E3CE3017A}" type="datetime1">
              <a:rPr lang="ko-KR" altLang="en-US"/>
              <a:pPr lvl="0">
                <a:defRPr/>
              </a:pPr>
              <a:t>2025-01-06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1E33FF7C-8566-45B7-B9A1-9079E74E472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9FA320CF-A826-4835-B739-33123A010FED}" type="datetime1">
              <a:rPr lang="ko-KR" altLang="en-US"/>
              <a:pPr lvl="0">
                <a:defRPr/>
              </a:pPr>
              <a:t>2025-01-06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1E33FF7C-8566-45B7-B9A1-9079E74E472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B910220F-C5BB-442B-BBE4-B551265851E2}" type="datetime1">
              <a:rPr lang="ko-KR" altLang="en-US"/>
              <a:pPr lvl="0">
                <a:defRPr/>
              </a:pPr>
              <a:t>2025-01-06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1E33FF7C-8566-45B7-B9A1-9079E74E472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10FE7F16-00C1-4A94-90BB-274158135BC7}" type="datetime1">
              <a:rPr lang="ko-KR" altLang="en-US"/>
              <a:pPr lvl="0">
                <a:defRPr/>
              </a:pPr>
              <a:t>2025-01-06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1E33FF7C-8566-45B7-B9A1-9079E74E472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7C13EB16-D509-45ED-8926-C70C7C159F05}" type="datetime1">
              <a:rPr lang="ko-KR" altLang="en-US"/>
              <a:pPr lvl="0">
                <a:defRPr/>
              </a:pPr>
              <a:t>2025-01-06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1E33FF7C-8566-45B7-B9A1-9079E74E472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EC21D073-3ED7-40F6-97D9-5463D95D3F7F}" type="datetime1">
              <a:rPr lang="ko-KR" altLang="en-US"/>
              <a:pPr lvl="0">
                <a:defRPr/>
              </a:pPr>
              <a:t>2025-01-06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1E33FF7C-8566-45B7-B9A1-9079E74E472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DDB2F657-0897-46F0-B16B-F1D17F5184B0}" type="datetime1">
              <a:rPr lang="ko-KR" altLang="en-US"/>
              <a:pPr lvl="0">
                <a:defRPr/>
              </a:pPr>
              <a:t>2025-01-06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1E33FF7C-8566-45B7-B9A1-9079E74E472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ED2FA02-D3B1-495F-B16D-64DFCF8A496F}" type="datetime1">
              <a:rPr lang="ko-KR" altLang="en-US"/>
              <a:pPr lvl="0">
                <a:defRPr/>
              </a:pPr>
              <a:t>2025-01-06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1E33FF7C-8566-45B7-B9A1-9079E74E472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B1B3A164-AEDE-4454-981F-59678AA1D372}" type="datetime1">
              <a:rPr lang="ko-KR" altLang="en-US"/>
              <a:pPr lvl="0">
                <a:defRPr/>
              </a:pPr>
              <a:t>2025-01-06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1E33FF7C-8566-45B7-B9A1-9079E74E472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32BE21F-33B5-4748-A7AE-A31A725B6651}"/>
              </a:ext>
            </a:extLst>
          </p:cNvPr>
          <p:cNvSpPr txBox="1"/>
          <p:nvPr userDrawn="1"/>
        </p:nvSpPr>
        <p:spPr>
          <a:xfrm>
            <a:off x="0" y="6112649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spc="20" dirty="0">
                <a:solidFill>
                  <a:schemeClr val="bg1"/>
                </a:solidFill>
              </a:rPr>
              <a:t>2022</a:t>
            </a:r>
            <a:r>
              <a:rPr lang="ko-KR" altLang="en-US" sz="2400" b="1" spc="20" dirty="0">
                <a:solidFill>
                  <a:schemeClr val="bg1"/>
                </a:solidFill>
              </a:rPr>
              <a:t>년 캡스톤디자인</a:t>
            </a:r>
            <a:r>
              <a:rPr lang="en-US" altLang="ko-KR" sz="2400" b="1" spc="20" dirty="0">
                <a:solidFill>
                  <a:schemeClr val="bg1"/>
                </a:solidFill>
              </a:rPr>
              <a:t>1 IDEA</a:t>
            </a:r>
            <a:r>
              <a:rPr lang="ko-KR" altLang="en-US" sz="2400" b="1" spc="20" dirty="0">
                <a:solidFill>
                  <a:schemeClr val="bg1"/>
                </a:solidFill>
              </a:rPr>
              <a:t> 발표회</a:t>
            </a:r>
            <a:endParaRPr lang="en-US" altLang="ko-KR" sz="2400" b="1" spc="20" dirty="0">
              <a:solidFill>
                <a:schemeClr val="bg1"/>
              </a:solidFill>
            </a:endParaRPr>
          </a:p>
        </p:txBody>
      </p:sp>
      <p:sp>
        <p:nvSpPr>
          <p:cNvPr id="3" name="텍스트 개체 틀 9">
            <a:extLst>
              <a:ext uri="{FF2B5EF4-FFF2-40B4-BE49-F238E27FC236}">
                <a16:creationId xmlns:a16="http://schemas.microsoft.com/office/drawing/2014/main" id="{77F36FD4-A224-4ABC-8A0B-0A770842842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2276872"/>
            <a:ext cx="8424863" cy="55407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35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ko-KR" altLang="en-US" dirty="0"/>
              <a:t>작품명을 적으세요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EB452F-1A64-4670-85B6-E2EA0BEA0F6B}"/>
              </a:ext>
            </a:extLst>
          </p:cNvPr>
          <p:cNvSpPr txBox="1"/>
          <p:nvPr userDrawn="1"/>
        </p:nvSpPr>
        <p:spPr>
          <a:xfrm>
            <a:off x="107504" y="3816474"/>
            <a:ext cx="1224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2400" b="1" spc="20" dirty="0">
                <a:solidFill>
                  <a:schemeClr val="bg1"/>
                </a:solidFill>
              </a:rPr>
              <a:t>팀명</a:t>
            </a:r>
            <a:r>
              <a:rPr lang="en-US" altLang="ko-KR" sz="2400" b="1" spc="20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B45F04-A0C5-4ED5-809D-BD43496553A7}"/>
              </a:ext>
            </a:extLst>
          </p:cNvPr>
          <p:cNvSpPr txBox="1"/>
          <p:nvPr userDrawn="1"/>
        </p:nvSpPr>
        <p:spPr>
          <a:xfrm>
            <a:off x="107504" y="4298167"/>
            <a:ext cx="1224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2400" b="1" spc="20" dirty="0">
                <a:solidFill>
                  <a:schemeClr val="bg1"/>
                </a:solidFill>
              </a:rPr>
              <a:t>팀원</a:t>
            </a:r>
            <a:r>
              <a:rPr lang="en-US" altLang="ko-KR" sz="2400" b="1" spc="20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9" name="텍스트 개체 틀 9">
            <a:extLst>
              <a:ext uri="{FF2B5EF4-FFF2-40B4-BE49-F238E27FC236}">
                <a16:creationId xmlns:a16="http://schemas.microsoft.com/office/drawing/2014/main" id="{8AEC7492-2AEB-4459-8501-EEAF11E1C64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894114" y="4755367"/>
            <a:ext cx="6854599" cy="45143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C8285C-12F8-4784-936C-BD1C8AB4F09A}"/>
              </a:ext>
            </a:extLst>
          </p:cNvPr>
          <p:cNvSpPr txBox="1"/>
          <p:nvPr userDrawn="1"/>
        </p:nvSpPr>
        <p:spPr>
          <a:xfrm>
            <a:off x="107504" y="4755367"/>
            <a:ext cx="30243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2400" b="1" spc="20" dirty="0">
                <a:solidFill>
                  <a:schemeClr val="bg1"/>
                </a:solidFill>
              </a:rPr>
              <a:t>지도교수님</a:t>
            </a:r>
            <a:r>
              <a:rPr lang="en-US" altLang="ko-KR" sz="2400" b="1" spc="20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13" name="텍스트 개체 틀 9">
            <a:extLst>
              <a:ext uri="{FF2B5EF4-FFF2-40B4-BE49-F238E27FC236}">
                <a16:creationId xmlns:a16="http://schemas.microsoft.com/office/drawing/2014/main" id="{03470ADE-75B4-4530-9C54-DFD8685F7B4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94114" y="3816474"/>
            <a:ext cx="6854599" cy="45143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14" name="텍스트 개체 틀 9">
            <a:extLst>
              <a:ext uri="{FF2B5EF4-FFF2-40B4-BE49-F238E27FC236}">
                <a16:creationId xmlns:a16="http://schemas.microsoft.com/office/drawing/2014/main" id="{86A2C7FD-C2CE-4F44-8CB2-90A18ACF012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894114" y="4298167"/>
            <a:ext cx="6854599" cy="45143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13577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87D6B438-E4F0-4FBA-B4F7-F541B377F31E}" type="datetime1">
              <a:rPr lang="ko-KR" altLang="en-US"/>
              <a:pPr lvl="0">
                <a:defRPr/>
              </a:pPr>
              <a:t>2025-01-06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1E33FF7C-8566-45B7-B9A1-9079E74E472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/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3" Type="http://schemas.openxmlformats.org/officeDocument/2006/relationships/image" Target="../media/image7.jpe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.xml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A312509-0BF5-A88D-DC39-4A29AB3225CE}"/>
              </a:ext>
            </a:extLst>
          </p:cNvPr>
          <p:cNvSpPr/>
          <p:nvPr/>
        </p:nvSpPr>
        <p:spPr>
          <a:xfrm>
            <a:off x="107504" y="4775448"/>
            <a:ext cx="1800200" cy="453752"/>
          </a:xfrm>
          <a:prstGeom prst="rect">
            <a:avLst/>
          </a:prstGeom>
          <a:solidFill>
            <a:srgbClr val="064A7F"/>
          </a:solidFill>
          <a:ln>
            <a:solidFill>
              <a:srgbClr val="064A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0844AF4-7D13-6939-11A7-67D77F29D8FB}"/>
              </a:ext>
            </a:extLst>
          </p:cNvPr>
          <p:cNvSpPr/>
          <p:nvPr/>
        </p:nvSpPr>
        <p:spPr>
          <a:xfrm>
            <a:off x="1725227" y="6086457"/>
            <a:ext cx="5434928" cy="453752"/>
          </a:xfrm>
          <a:prstGeom prst="rect">
            <a:avLst/>
          </a:prstGeom>
          <a:solidFill>
            <a:srgbClr val="064A7F"/>
          </a:solidFill>
          <a:ln>
            <a:solidFill>
              <a:srgbClr val="064A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5701B3D-7C71-9974-4B76-7EB4BE9AB7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946" y="2813737"/>
            <a:ext cx="7898174" cy="269138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5FE9B6F9-4DA7-A369-8A53-40C127ECAF78}"/>
              </a:ext>
            </a:extLst>
          </p:cNvPr>
          <p:cNvSpPr/>
          <p:nvPr/>
        </p:nvSpPr>
        <p:spPr>
          <a:xfrm>
            <a:off x="1197796" y="2264594"/>
            <a:ext cx="6748407" cy="453752"/>
          </a:xfrm>
          <a:prstGeom prst="rect">
            <a:avLst/>
          </a:prstGeom>
          <a:solidFill>
            <a:srgbClr val="064A7F"/>
          </a:solidFill>
          <a:ln>
            <a:solidFill>
              <a:srgbClr val="064A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b="1" dirty="0">
                <a:latin typeface="+mj-lt"/>
              </a:rPr>
              <a:t>2025 baqu4 </a:t>
            </a:r>
            <a:r>
              <a:rPr lang="ko-KR" altLang="en-US" sz="3200" b="1" dirty="0">
                <a:latin typeface="+mj-lt"/>
              </a:rPr>
              <a:t>자율주행 정기회의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455CE9F-C5C4-A77D-055F-B2100E0E5CA3}"/>
              </a:ext>
            </a:extLst>
          </p:cNvPr>
          <p:cNvSpPr/>
          <p:nvPr/>
        </p:nvSpPr>
        <p:spPr>
          <a:xfrm>
            <a:off x="1907704" y="4584666"/>
            <a:ext cx="5434928" cy="453752"/>
          </a:xfrm>
          <a:prstGeom prst="rect">
            <a:avLst/>
          </a:prstGeom>
          <a:solidFill>
            <a:srgbClr val="064A7F"/>
          </a:solidFill>
          <a:ln>
            <a:solidFill>
              <a:srgbClr val="064A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/>
              <a:t>브레이크 파트 신동근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권시은</a:t>
            </a:r>
            <a:endParaRPr lang="en-US" altLang="ko-KR" sz="2000" b="1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9A0A7169-70D7-E9D1-E985-32BD0283CD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4" y="3894191"/>
            <a:ext cx="1000265" cy="1019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604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7859C-FE91-B399-A0F5-4F13DB703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6D7DF8B-2FEA-9406-8A43-AF43075FAA4F}"/>
              </a:ext>
            </a:extLst>
          </p:cNvPr>
          <p:cNvSpPr/>
          <p:nvPr/>
        </p:nvSpPr>
        <p:spPr>
          <a:xfrm>
            <a:off x="328190" y="738698"/>
            <a:ext cx="8496944" cy="45719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7CFF5A5E-F5A3-4B3F-2D13-74F3EDE92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54338" y="419292"/>
            <a:ext cx="372420" cy="365125"/>
          </a:xfrm>
        </p:spPr>
        <p:txBody>
          <a:bodyPr/>
          <a:lstStyle/>
          <a:p>
            <a:pPr lvl="0">
              <a:defRPr/>
            </a:pPr>
            <a:fld id="{1E33FF7C-8566-45B7-B9A1-9079E74E4723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D9383AE-D7EC-7F2A-4354-D1DE7E8A44B4}"/>
              </a:ext>
            </a:extLst>
          </p:cNvPr>
          <p:cNvSpPr/>
          <p:nvPr/>
        </p:nvSpPr>
        <p:spPr>
          <a:xfrm>
            <a:off x="273226" y="234906"/>
            <a:ext cx="8379374" cy="5037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ko-KR" altLang="en-US" sz="2000" b="1" dirty="0">
                <a:solidFill>
                  <a:srgbClr val="004C86"/>
                </a:solidFill>
                <a:latin typeface="프리젠테이션 7 Bold" pitchFamily="2" charset="-127"/>
                <a:ea typeface="프리젠테이션 7 Bold" pitchFamily="2" charset="-127"/>
                <a:cs typeface="KoPubWorld돋움체_Pro Medium"/>
              </a:rPr>
              <a:t>다이어그램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CCD2ED9-4CD3-B8CB-07A8-86D900CBE561}"/>
              </a:ext>
            </a:extLst>
          </p:cNvPr>
          <p:cNvSpPr/>
          <p:nvPr/>
        </p:nvSpPr>
        <p:spPr>
          <a:xfrm>
            <a:off x="289200" y="6538181"/>
            <a:ext cx="5434928" cy="165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100" b="1" dirty="0">
                <a:solidFill>
                  <a:srgbClr val="004C86"/>
                </a:solidFill>
              </a:rPr>
              <a:t>2025</a:t>
            </a:r>
            <a:r>
              <a:rPr lang="ko-KR" altLang="en-US" sz="1100" b="1" dirty="0">
                <a:solidFill>
                  <a:srgbClr val="004C86"/>
                </a:solidFill>
              </a:rPr>
              <a:t>년 </a:t>
            </a:r>
            <a:r>
              <a:rPr lang="en-US" altLang="ko-KR" sz="1100" b="1" dirty="0">
                <a:solidFill>
                  <a:srgbClr val="004C86"/>
                </a:solidFill>
              </a:rPr>
              <a:t>baqu4 </a:t>
            </a:r>
            <a:r>
              <a:rPr lang="ko-KR" altLang="en-US" sz="1100" b="1" dirty="0">
                <a:solidFill>
                  <a:srgbClr val="004C86"/>
                </a:solidFill>
              </a:rPr>
              <a:t>자율주행 정기회의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FCF1DDA-69B1-1881-B1FF-DCFD5D12DC91}"/>
              </a:ext>
            </a:extLst>
          </p:cNvPr>
          <p:cNvSpPr/>
          <p:nvPr/>
        </p:nvSpPr>
        <p:spPr>
          <a:xfrm>
            <a:off x="209510" y="4367709"/>
            <a:ext cx="5984213" cy="18950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DC</a:t>
            </a:r>
            <a:r>
              <a:rPr lang="ko-KR" altLang="en-US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 </a:t>
            </a:r>
            <a:r>
              <a:rPr lang="en-US" altLang="ko-KR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Actuator </a:t>
            </a:r>
            <a:r>
              <a:rPr lang="ko-KR" altLang="en-US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가 브레이크를 제어 </a:t>
            </a:r>
            <a:r>
              <a:rPr lang="en-US" altLang="ko-KR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(</a:t>
            </a:r>
            <a:r>
              <a:rPr lang="ko-KR" altLang="en-US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세밀 조절 </a:t>
            </a:r>
            <a:r>
              <a:rPr lang="en-US" altLang="ko-KR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x, </a:t>
            </a:r>
            <a:r>
              <a:rPr lang="ko-KR" altLang="en-US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간단한 브레이크 </a:t>
            </a:r>
            <a:r>
              <a:rPr lang="en-US" altLang="ko-KR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on/off </a:t>
            </a:r>
            <a:r>
              <a:rPr lang="ko-KR" altLang="en-US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제어</a:t>
            </a:r>
            <a:r>
              <a:rPr lang="en-US" altLang="ko-KR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)</a:t>
            </a:r>
          </a:p>
          <a:p>
            <a:pPr marL="285750" indent="-28575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너무 강한</a:t>
            </a:r>
            <a:r>
              <a:rPr lang="en-US" altLang="ko-KR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 </a:t>
            </a:r>
            <a:r>
              <a:rPr lang="ko-KR" altLang="en-US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브레이크 </a:t>
            </a:r>
            <a:r>
              <a:rPr lang="en-US" altLang="ko-KR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-&gt; </a:t>
            </a:r>
            <a:r>
              <a:rPr lang="ko-KR" altLang="en-US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차체 전복 위험 가능 </a:t>
            </a:r>
            <a:r>
              <a:rPr lang="en-US" altLang="ko-KR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-&gt; </a:t>
            </a:r>
            <a:r>
              <a:rPr lang="ko-KR" altLang="en-US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적절한 브레이크 제어 값 </a:t>
            </a:r>
            <a:endParaRPr lang="en-US" altLang="ko-KR" sz="1600" dirty="0">
              <a:latin typeface="프리젠테이션 5 Medium" pitchFamily="2" charset="-127"/>
              <a:ea typeface="프리젠테이션 5 Medium" pitchFamily="2" charset="-127"/>
              <a:cs typeface="KoPubWorld돋움체_Pro Medium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압력센서 통해 적절한 </a:t>
            </a:r>
            <a:r>
              <a:rPr lang="en-US" altLang="ko-KR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DC Actuator </a:t>
            </a:r>
            <a:r>
              <a:rPr lang="ko-KR" altLang="en-US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위치 값 </a:t>
            </a:r>
            <a:r>
              <a:rPr lang="en-US" altLang="ko-KR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-&gt;</a:t>
            </a:r>
            <a:r>
              <a:rPr lang="ko-KR" altLang="en-US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 </a:t>
            </a:r>
            <a:r>
              <a:rPr lang="en-US" altLang="ko-KR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Limit </a:t>
            </a:r>
            <a:r>
              <a:rPr lang="ko-KR" altLang="en-US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으로 선정</a:t>
            </a:r>
            <a:endParaRPr lang="en-US" altLang="ko-KR" sz="1600" dirty="0">
              <a:latin typeface="프리젠테이션 5 Medium" pitchFamily="2" charset="-127"/>
              <a:ea typeface="프리젠테이션 5 Medium" pitchFamily="2" charset="-127"/>
              <a:cs typeface="KoPubWorld돋움체_Pro Medium"/>
            </a:endParaRPr>
          </a:p>
          <a:p>
            <a:pPr marL="285750" indent="-28575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IGBT </a:t>
            </a:r>
            <a:r>
              <a:rPr lang="ko-KR" altLang="en-US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이용하여 </a:t>
            </a:r>
            <a:r>
              <a:rPr lang="en-US" altLang="ko-KR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DC Actuator</a:t>
            </a:r>
            <a:r>
              <a:rPr lang="ko-KR" altLang="en-US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 와 </a:t>
            </a:r>
            <a:r>
              <a:rPr lang="ko-KR" altLang="en-US" sz="1600" dirty="0" err="1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아두이노</a:t>
            </a:r>
            <a:r>
              <a:rPr lang="ko-KR" altLang="en-US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 간 </a:t>
            </a:r>
            <a:r>
              <a:rPr lang="ko-KR" altLang="en-US" sz="1600" dirty="0" err="1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고전류</a:t>
            </a:r>
            <a:r>
              <a:rPr lang="en-US" altLang="ko-KR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/</a:t>
            </a:r>
            <a:r>
              <a:rPr lang="ko-KR" altLang="en-US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고전압 </a:t>
            </a:r>
            <a:r>
              <a:rPr lang="en-US" altLang="ko-KR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Leakage </a:t>
            </a:r>
            <a:r>
              <a:rPr lang="ko-KR" altLang="en-US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방지</a:t>
            </a:r>
            <a:endParaRPr lang="en-US" altLang="ko-KR" sz="1600" dirty="0">
              <a:latin typeface="프리젠테이션 5 Medium" pitchFamily="2" charset="-127"/>
              <a:ea typeface="프리젠테이션 5 Medium" pitchFamily="2" charset="-127"/>
              <a:cs typeface="KoPubWorld돋움체_Pro Medium"/>
            </a:endParaRPr>
          </a:p>
          <a:p>
            <a:pPr marL="285750" indent="-28575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비상상황의 경우 </a:t>
            </a:r>
            <a:r>
              <a:rPr lang="en-US" altLang="ko-KR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IGBT</a:t>
            </a:r>
            <a:r>
              <a:rPr lang="ko-KR" altLang="en-US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를 </a:t>
            </a:r>
            <a:r>
              <a:rPr lang="en-US" altLang="ko-KR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off </a:t>
            </a:r>
            <a:r>
              <a:rPr lang="ko-KR" altLang="en-US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시켜 전류 차단</a:t>
            </a:r>
            <a:endParaRPr lang="en-US" altLang="ko-KR" sz="1600" dirty="0">
              <a:latin typeface="프리젠테이션 5 Medium" pitchFamily="2" charset="-127"/>
              <a:ea typeface="프리젠테이션 5 Medium" pitchFamily="2" charset="-127"/>
              <a:cs typeface="KoPubWorld돋움체_Pro Medium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3F7E7AD-8299-7A52-E83D-22F8E26FA708}"/>
              </a:ext>
            </a:extLst>
          </p:cNvPr>
          <p:cNvSpPr/>
          <p:nvPr/>
        </p:nvSpPr>
        <p:spPr>
          <a:xfrm>
            <a:off x="595088" y="2580293"/>
            <a:ext cx="1490870" cy="79016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</a:rPr>
              <a:t>MCU</a:t>
            </a:r>
            <a:br>
              <a:rPr lang="en-US" altLang="ko-KR" sz="1600" dirty="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</a:rPr>
            </a:br>
            <a:r>
              <a:rPr lang="en-US" altLang="ko-KR" sz="1600" dirty="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</a:rPr>
              <a:t>(</a:t>
            </a:r>
            <a:r>
              <a:rPr lang="ko-KR" altLang="en-US" sz="1600" dirty="0" err="1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</a:rPr>
              <a:t>아두이노</a:t>
            </a:r>
            <a:r>
              <a:rPr lang="ko-KR" altLang="en-US" sz="1600" dirty="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</a:rPr>
              <a:t> </a:t>
            </a:r>
            <a:r>
              <a:rPr lang="en-US" altLang="ko-KR" sz="1600" dirty="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</a:rPr>
              <a:t>DUE)</a:t>
            </a:r>
            <a:endParaRPr lang="ko-KR" altLang="en-US" sz="1600" dirty="0">
              <a:solidFill>
                <a:schemeClr val="tx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1913247-237B-786E-C88D-0D43ABC35CF6}"/>
              </a:ext>
            </a:extLst>
          </p:cNvPr>
          <p:cNvSpPr/>
          <p:nvPr/>
        </p:nvSpPr>
        <p:spPr>
          <a:xfrm>
            <a:off x="6508872" y="3131916"/>
            <a:ext cx="1341782" cy="526774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</a:rPr>
              <a:t>DC</a:t>
            </a:r>
            <a:r>
              <a:rPr lang="ko-KR" altLang="en-US" sz="1600" dirty="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</a:rPr>
              <a:t> </a:t>
            </a:r>
            <a:r>
              <a:rPr lang="en-US" altLang="ko-KR" sz="1600" dirty="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</a:rPr>
              <a:t>Actuator</a:t>
            </a:r>
            <a:br>
              <a:rPr lang="en-US" altLang="ko-KR" sz="1600" dirty="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</a:rPr>
            </a:br>
            <a:r>
              <a:rPr lang="en-US" altLang="ko-KR" sz="1600" dirty="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</a:rPr>
              <a:t>DHLA2500</a:t>
            </a:r>
            <a:endParaRPr lang="ko-KR" altLang="en-US" sz="1600" dirty="0">
              <a:solidFill>
                <a:schemeClr val="tx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D5B29E4-A0ED-315C-18CF-0EC92C098B3B}"/>
              </a:ext>
            </a:extLst>
          </p:cNvPr>
          <p:cNvSpPr/>
          <p:nvPr/>
        </p:nvSpPr>
        <p:spPr>
          <a:xfrm>
            <a:off x="6508872" y="2219173"/>
            <a:ext cx="1341782" cy="526774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</a:rPr>
              <a:t>DC</a:t>
            </a:r>
            <a:r>
              <a:rPr lang="ko-KR" altLang="en-US" sz="1600" dirty="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</a:rPr>
              <a:t> </a:t>
            </a:r>
            <a:r>
              <a:rPr lang="en-US" altLang="ko-KR" sz="1600" dirty="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</a:rPr>
              <a:t>Actuator</a:t>
            </a:r>
            <a:br>
              <a:rPr lang="en-US" altLang="ko-KR" sz="1600" dirty="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</a:rPr>
            </a:br>
            <a:r>
              <a:rPr lang="en-US" altLang="ko-KR" sz="1600" dirty="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</a:rPr>
              <a:t>DHLA2500</a:t>
            </a:r>
            <a:endParaRPr lang="ko-KR" altLang="en-US" sz="1600" dirty="0">
              <a:solidFill>
                <a:schemeClr val="tx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1FA9E8C-F721-0F10-4B6E-330D7CBCDC38}"/>
              </a:ext>
            </a:extLst>
          </p:cNvPr>
          <p:cNvSpPr/>
          <p:nvPr/>
        </p:nvSpPr>
        <p:spPr>
          <a:xfrm>
            <a:off x="3039288" y="1643215"/>
            <a:ext cx="1341782" cy="526774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</a:rPr>
              <a:t>압력 센서</a:t>
            </a:r>
            <a:br>
              <a:rPr lang="en-US" altLang="ko-KR" sz="1600" dirty="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</a:rPr>
            </a:br>
            <a:r>
              <a:rPr lang="en-US" altLang="ko-KR" sz="1600" dirty="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</a:rPr>
              <a:t>(SZH-SEN02)</a:t>
            </a:r>
            <a:endParaRPr lang="ko-KR" altLang="en-US" sz="1600" dirty="0">
              <a:solidFill>
                <a:schemeClr val="tx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CC5FC1D-CC1A-062F-385E-BDD315B74C58}"/>
              </a:ext>
            </a:extLst>
          </p:cNvPr>
          <p:cNvSpPr/>
          <p:nvPr/>
        </p:nvSpPr>
        <p:spPr>
          <a:xfrm>
            <a:off x="1547588" y="1288209"/>
            <a:ext cx="1242392" cy="526774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</a:rPr>
              <a:t>I2C</a:t>
            </a:r>
            <a:r>
              <a:rPr lang="ko-KR" altLang="en-US" sz="1600" dirty="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</a:rPr>
              <a:t> </a:t>
            </a:r>
            <a:r>
              <a:rPr lang="en-US" altLang="ko-KR" sz="1600" dirty="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</a:rPr>
              <a:t>16x2</a:t>
            </a:r>
            <a:r>
              <a:rPr lang="ko-KR" altLang="en-US" sz="1600" dirty="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</a:rPr>
              <a:t> </a:t>
            </a:r>
            <a:br>
              <a:rPr lang="en-US" altLang="ko-KR" sz="1600" dirty="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</a:rPr>
            </a:br>
            <a:r>
              <a:rPr lang="en-US" altLang="ko-KR" sz="1600" dirty="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</a:rPr>
              <a:t>Display</a:t>
            </a:r>
            <a:endParaRPr lang="ko-KR" altLang="en-US" sz="1600" dirty="0">
              <a:solidFill>
                <a:schemeClr val="tx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F6C11C41-F346-2039-67C2-DDD5496FD123}"/>
              </a:ext>
            </a:extLst>
          </p:cNvPr>
          <p:cNvCxnSpPr>
            <a:stCxn id="3" idx="3"/>
          </p:cNvCxnSpPr>
          <p:nvPr/>
        </p:nvCxnSpPr>
        <p:spPr>
          <a:xfrm flipV="1">
            <a:off x="2085958" y="2975373"/>
            <a:ext cx="3458819" cy="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연결선: 꺾임 11">
            <a:extLst>
              <a:ext uri="{FF2B5EF4-FFF2-40B4-BE49-F238E27FC236}">
                <a16:creationId xmlns:a16="http://schemas.microsoft.com/office/drawing/2014/main" id="{865FB2D1-9867-4310-3FD7-FB88BD2D879C}"/>
              </a:ext>
            </a:extLst>
          </p:cNvPr>
          <p:cNvCxnSpPr>
            <a:cxnSpLocks/>
            <a:stCxn id="3" idx="2"/>
            <a:endCxn id="19" idx="2"/>
          </p:cNvCxnSpPr>
          <p:nvPr/>
        </p:nvCxnSpPr>
        <p:spPr>
          <a:xfrm rot="5400000" flipH="1" flipV="1">
            <a:off x="3061234" y="1407060"/>
            <a:ext cx="242682" cy="3684105"/>
          </a:xfrm>
          <a:prstGeom prst="bentConnector3">
            <a:avLst>
              <a:gd name="adj1" fmla="val -219794"/>
            </a:avLst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연결선: 꺾임 12">
            <a:extLst>
              <a:ext uri="{FF2B5EF4-FFF2-40B4-BE49-F238E27FC236}">
                <a16:creationId xmlns:a16="http://schemas.microsoft.com/office/drawing/2014/main" id="{1C41262A-E9DD-9511-FB24-3C2C33AF568F}"/>
              </a:ext>
            </a:extLst>
          </p:cNvPr>
          <p:cNvCxnSpPr>
            <a:cxnSpLocks/>
          </p:cNvCxnSpPr>
          <p:nvPr/>
        </p:nvCxnSpPr>
        <p:spPr>
          <a:xfrm flipV="1">
            <a:off x="5544777" y="2565385"/>
            <a:ext cx="964095" cy="409987"/>
          </a:xfrm>
          <a:prstGeom prst="bentConnector3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연결선: 꺾임 13">
            <a:extLst>
              <a:ext uri="{FF2B5EF4-FFF2-40B4-BE49-F238E27FC236}">
                <a16:creationId xmlns:a16="http://schemas.microsoft.com/office/drawing/2014/main" id="{43D79101-726F-1B6A-3775-298AB6D6FD23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5544777" y="2975373"/>
            <a:ext cx="964095" cy="419930"/>
          </a:xfrm>
          <a:prstGeom prst="bentConnector3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연결선: 꺾임 15">
            <a:extLst>
              <a:ext uri="{FF2B5EF4-FFF2-40B4-BE49-F238E27FC236}">
                <a16:creationId xmlns:a16="http://schemas.microsoft.com/office/drawing/2014/main" id="{033F73C6-E01B-3DD3-75F6-E8AD9CF9D217}"/>
              </a:ext>
            </a:extLst>
          </p:cNvPr>
          <p:cNvCxnSpPr>
            <a:cxnSpLocks/>
            <a:endCxn id="9" idx="1"/>
          </p:cNvCxnSpPr>
          <p:nvPr/>
        </p:nvCxnSpPr>
        <p:spPr>
          <a:xfrm flipV="1">
            <a:off x="2085958" y="1906602"/>
            <a:ext cx="953330" cy="839345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연결선: 꺾임 16">
            <a:extLst>
              <a:ext uri="{FF2B5EF4-FFF2-40B4-BE49-F238E27FC236}">
                <a16:creationId xmlns:a16="http://schemas.microsoft.com/office/drawing/2014/main" id="{157634D0-37B8-FEE3-4C98-9ABBFC77471F}"/>
              </a:ext>
            </a:extLst>
          </p:cNvPr>
          <p:cNvCxnSpPr>
            <a:stCxn id="3" idx="0"/>
            <a:endCxn id="10" idx="1"/>
          </p:cNvCxnSpPr>
          <p:nvPr/>
        </p:nvCxnSpPr>
        <p:spPr>
          <a:xfrm rot="5400000" flipH="1" flipV="1">
            <a:off x="929707" y="1962413"/>
            <a:ext cx="1028697" cy="207065"/>
          </a:xfrm>
          <a:prstGeom prst="bentConnector2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004DC42-0608-0B26-57BC-E8D9C077B296}"/>
              </a:ext>
            </a:extLst>
          </p:cNvPr>
          <p:cNvSpPr/>
          <p:nvPr/>
        </p:nvSpPr>
        <p:spPr>
          <a:xfrm>
            <a:off x="2718751" y="2711985"/>
            <a:ext cx="1341782" cy="526774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</a:rPr>
              <a:t>모터</a:t>
            </a:r>
            <a:r>
              <a:rPr lang="en-US" altLang="ko-KR" sz="1600" dirty="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</a:rPr>
              <a:t> </a:t>
            </a:r>
            <a:r>
              <a:rPr lang="ko-KR" altLang="en-US" sz="1600" dirty="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</a:rPr>
              <a:t>드라이버</a:t>
            </a:r>
            <a:br>
              <a:rPr lang="en-US" altLang="ko-KR" sz="1600" dirty="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</a:rPr>
            </a:br>
            <a:r>
              <a:rPr lang="en-US" altLang="ko-KR" sz="1600" dirty="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</a:rPr>
              <a:t>(BTS7960)</a:t>
            </a:r>
            <a:endParaRPr lang="ko-KR" altLang="en-US" sz="1600" dirty="0">
              <a:solidFill>
                <a:schemeClr val="tx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69D6223-F9BB-DE97-3085-7C5499BEB7FF}"/>
              </a:ext>
            </a:extLst>
          </p:cNvPr>
          <p:cNvSpPr/>
          <p:nvPr/>
        </p:nvSpPr>
        <p:spPr>
          <a:xfrm>
            <a:off x="4678414" y="2822972"/>
            <a:ext cx="692427" cy="3048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프리젠테이션 6 SemiBold" pitchFamily="2" charset="-127"/>
                <a:ea typeface="프리젠테이션 6 SemiBold" pitchFamily="2" charset="-127"/>
              </a:rPr>
              <a:t>IGBT</a:t>
            </a:r>
            <a:endParaRPr lang="ko-KR" altLang="en-US" sz="1600" dirty="0">
              <a:solidFill>
                <a:schemeClr val="tx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40725AA-2AB9-9412-7D95-A034B38CFE11}"/>
              </a:ext>
            </a:extLst>
          </p:cNvPr>
          <p:cNvSpPr txBox="1"/>
          <p:nvPr/>
        </p:nvSpPr>
        <p:spPr>
          <a:xfrm>
            <a:off x="7934473" y="2333316"/>
            <a:ext cx="706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프리젠테이션 4 Regular" pitchFamily="2" charset="-127"/>
                <a:ea typeface="프리젠테이션 4 Regular" pitchFamily="2" charset="-127"/>
              </a:rPr>
              <a:t>12V</a:t>
            </a:r>
            <a:endParaRPr lang="ko-KR" altLang="en-US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1F7DE15-B40E-B798-D66A-596188737F15}"/>
              </a:ext>
            </a:extLst>
          </p:cNvPr>
          <p:cNvSpPr txBox="1"/>
          <p:nvPr/>
        </p:nvSpPr>
        <p:spPr>
          <a:xfrm>
            <a:off x="7946749" y="3185788"/>
            <a:ext cx="706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프리젠테이션 4 Regular" pitchFamily="2" charset="-127"/>
                <a:ea typeface="프리젠테이션 4 Regular" pitchFamily="2" charset="-127"/>
              </a:rPr>
              <a:t>12V</a:t>
            </a:r>
            <a:endParaRPr lang="ko-KR" altLang="en-US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1D62567-133B-492D-546A-A645298203A3}"/>
              </a:ext>
            </a:extLst>
          </p:cNvPr>
          <p:cNvSpPr/>
          <p:nvPr/>
        </p:nvSpPr>
        <p:spPr>
          <a:xfrm rot="20365663">
            <a:off x="6859657" y="4078647"/>
            <a:ext cx="302976" cy="21541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3F444AC-6C00-E296-C740-22837FB77FBE}"/>
              </a:ext>
            </a:extLst>
          </p:cNvPr>
          <p:cNvSpPr txBox="1"/>
          <p:nvPr/>
        </p:nvSpPr>
        <p:spPr>
          <a:xfrm>
            <a:off x="6945281" y="4102250"/>
            <a:ext cx="10078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latin typeface="프리젠테이션 4 Regular" pitchFamily="2" charset="-127"/>
                <a:ea typeface="프리젠테이션 4 Regular" pitchFamily="2" charset="-127"/>
              </a:rPr>
              <a:t>브레이크 페달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90DE8AD-D18D-69D1-F3D7-EEE2609B71BD}"/>
              </a:ext>
            </a:extLst>
          </p:cNvPr>
          <p:cNvSpPr txBox="1"/>
          <p:nvPr/>
        </p:nvSpPr>
        <p:spPr>
          <a:xfrm>
            <a:off x="7606380" y="5226997"/>
            <a:ext cx="11836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프리젠테이션 4 Regular" pitchFamily="2" charset="-127"/>
                <a:ea typeface="프리젠테이션 4 Regular" pitchFamily="2" charset="-127"/>
              </a:rPr>
              <a:t>DC Actuator</a:t>
            </a:r>
            <a:endParaRPr lang="ko-KR" altLang="en-US" sz="1400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23" name="화살표: 오른쪽 22">
            <a:extLst>
              <a:ext uri="{FF2B5EF4-FFF2-40B4-BE49-F238E27FC236}">
                <a16:creationId xmlns:a16="http://schemas.microsoft.com/office/drawing/2014/main" id="{9D283439-F742-BFE5-BBD0-02D3BAA948A3}"/>
              </a:ext>
            </a:extLst>
          </p:cNvPr>
          <p:cNvSpPr/>
          <p:nvPr/>
        </p:nvSpPr>
        <p:spPr>
          <a:xfrm>
            <a:off x="8701250" y="5549576"/>
            <a:ext cx="308558" cy="181651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AE13FCD-89F8-1AD0-617A-0C3EB029230B}"/>
              </a:ext>
            </a:extLst>
          </p:cNvPr>
          <p:cNvSpPr txBox="1"/>
          <p:nvPr/>
        </p:nvSpPr>
        <p:spPr>
          <a:xfrm>
            <a:off x="5985685" y="3939427"/>
            <a:ext cx="6949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Push</a:t>
            </a:r>
            <a:endParaRPr lang="ko-KR" altLang="en-US" sz="1400" b="1" dirty="0">
              <a:solidFill>
                <a:srgbClr val="FF0000"/>
              </a:solidFill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25" name="화살표: 오른쪽 24">
            <a:extLst>
              <a:ext uri="{FF2B5EF4-FFF2-40B4-BE49-F238E27FC236}">
                <a16:creationId xmlns:a16="http://schemas.microsoft.com/office/drawing/2014/main" id="{4F949025-53EF-6E98-5835-930A6E354ADE}"/>
              </a:ext>
            </a:extLst>
          </p:cNvPr>
          <p:cNvSpPr/>
          <p:nvPr/>
        </p:nvSpPr>
        <p:spPr>
          <a:xfrm flipH="1">
            <a:off x="6193723" y="4283902"/>
            <a:ext cx="255963" cy="141277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A3C9E90-CBFC-52D4-623D-05A180A3AB39}"/>
              </a:ext>
            </a:extLst>
          </p:cNvPr>
          <p:cNvSpPr txBox="1"/>
          <p:nvPr/>
        </p:nvSpPr>
        <p:spPr>
          <a:xfrm>
            <a:off x="8581399" y="5336167"/>
            <a:ext cx="6949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PULL</a:t>
            </a:r>
            <a:endParaRPr lang="ko-KR" altLang="en-US" sz="1400" b="1" dirty="0">
              <a:solidFill>
                <a:srgbClr val="FF0000"/>
              </a:solidFill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6728172-8A8C-FEFE-2522-3FFFAB7C7E45}"/>
              </a:ext>
            </a:extLst>
          </p:cNvPr>
          <p:cNvSpPr/>
          <p:nvPr/>
        </p:nvSpPr>
        <p:spPr>
          <a:xfrm rot="16200000">
            <a:off x="7782985" y="5116414"/>
            <a:ext cx="302976" cy="215067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453D3BD-B11F-4A66-6D08-53B9B6459A48}"/>
              </a:ext>
            </a:extLst>
          </p:cNvPr>
          <p:cNvSpPr/>
          <p:nvPr/>
        </p:nvSpPr>
        <p:spPr>
          <a:xfrm>
            <a:off x="7122713" y="5535402"/>
            <a:ext cx="1458686" cy="210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D2FF4891-71AB-C611-6382-723997EE1505}"/>
              </a:ext>
            </a:extLst>
          </p:cNvPr>
          <p:cNvSpPr/>
          <p:nvPr/>
        </p:nvSpPr>
        <p:spPr>
          <a:xfrm>
            <a:off x="7177708" y="5563751"/>
            <a:ext cx="152400" cy="15330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1787D4E-5425-7944-3D51-C7E72A6EBAF6}"/>
              </a:ext>
            </a:extLst>
          </p:cNvPr>
          <p:cNvSpPr txBox="1"/>
          <p:nvPr/>
        </p:nvSpPr>
        <p:spPr>
          <a:xfrm>
            <a:off x="7292568" y="6467511"/>
            <a:ext cx="1183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프리젠테이션 6 SemiBold" pitchFamily="2" charset="-127"/>
                <a:ea typeface="프리젠테이션 6 SemiBold" pitchFamily="2" charset="-127"/>
              </a:rPr>
              <a:t>측면도</a:t>
            </a:r>
          </a:p>
        </p:txBody>
      </p:sp>
    </p:spTree>
    <p:extLst>
      <p:ext uri="{BB962C8B-B14F-4D97-AF65-F5344CB8AC3E}">
        <p14:creationId xmlns:p14="http://schemas.microsoft.com/office/powerpoint/2010/main" val="1619883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D6023-1330-C3B9-C7A6-11AAC5AE2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C36F0FF-B9DE-C3D3-C3BD-2F4D56320634}"/>
              </a:ext>
            </a:extLst>
          </p:cNvPr>
          <p:cNvSpPr/>
          <p:nvPr/>
        </p:nvSpPr>
        <p:spPr>
          <a:xfrm>
            <a:off x="328190" y="738698"/>
            <a:ext cx="8496944" cy="45719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17523E0E-4C3B-CB93-2CC3-BCEE1F904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54338" y="419292"/>
            <a:ext cx="372420" cy="365125"/>
          </a:xfrm>
        </p:spPr>
        <p:txBody>
          <a:bodyPr/>
          <a:lstStyle/>
          <a:p>
            <a:pPr lvl="0">
              <a:defRPr/>
            </a:pPr>
            <a:fld id="{1E33FF7C-8566-45B7-B9A1-9079E74E4723}" type="slidenum">
              <a:rPr lang="en-US" altLang="en-US"/>
              <a:pPr lvl="0">
                <a:defRPr/>
              </a:pPr>
              <a:t>3</a:t>
            </a:fld>
            <a:endParaRPr lang="en-US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AC03413-E514-B721-1F83-5BCE8750BBC3}"/>
              </a:ext>
            </a:extLst>
          </p:cNvPr>
          <p:cNvSpPr/>
          <p:nvPr/>
        </p:nvSpPr>
        <p:spPr>
          <a:xfrm>
            <a:off x="273226" y="234906"/>
            <a:ext cx="8379374" cy="5037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ko-KR" altLang="en-US" sz="2000" b="1" dirty="0">
                <a:solidFill>
                  <a:srgbClr val="004C86"/>
                </a:solidFill>
                <a:latin typeface="프리젠테이션 7 Bold" pitchFamily="2" charset="-127"/>
                <a:ea typeface="프리젠테이션 7 Bold" pitchFamily="2" charset="-127"/>
                <a:cs typeface="KoPubWorld돋움체_Pro Medium"/>
              </a:rPr>
              <a:t>코드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7C52C15-4140-E55D-2E30-96A412207836}"/>
              </a:ext>
            </a:extLst>
          </p:cNvPr>
          <p:cNvSpPr/>
          <p:nvPr/>
        </p:nvSpPr>
        <p:spPr>
          <a:xfrm>
            <a:off x="289200" y="6538181"/>
            <a:ext cx="5434928" cy="165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100" b="1" dirty="0">
                <a:solidFill>
                  <a:srgbClr val="004C86"/>
                </a:solidFill>
              </a:rPr>
              <a:t>2025</a:t>
            </a:r>
            <a:r>
              <a:rPr lang="ko-KR" altLang="en-US" sz="1100" b="1" dirty="0">
                <a:solidFill>
                  <a:srgbClr val="004C86"/>
                </a:solidFill>
              </a:rPr>
              <a:t>년 </a:t>
            </a:r>
            <a:r>
              <a:rPr lang="en-US" altLang="ko-KR" sz="1100" b="1" dirty="0">
                <a:solidFill>
                  <a:srgbClr val="004C86"/>
                </a:solidFill>
              </a:rPr>
              <a:t>baqu4 </a:t>
            </a:r>
            <a:r>
              <a:rPr lang="ko-KR" altLang="en-US" sz="1100" b="1" dirty="0">
                <a:solidFill>
                  <a:srgbClr val="004C86"/>
                </a:solidFill>
              </a:rPr>
              <a:t>자율주행 정기회의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DE8B15-EAA0-0168-5FD5-FCBA06E9F2F3}"/>
              </a:ext>
            </a:extLst>
          </p:cNvPr>
          <p:cNvSpPr txBox="1"/>
          <p:nvPr/>
        </p:nvSpPr>
        <p:spPr>
          <a:xfrm>
            <a:off x="328190" y="1242490"/>
            <a:ext cx="2540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dirty="0">
                <a:latin typeface="프리젠테이션 6 SemiBold" pitchFamily="2" charset="-127"/>
                <a:ea typeface="프리젠테이션 6 SemiBold" pitchFamily="2" charset="-127"/>
              </a:rPr>
              <a:t>Motor </a:t>
            </a:r>
            <a:r>
              <a:rPr lang="ko-KR" altLang="en-US" dirty="0">
                <a:latin typeface="프리젠테이션 6 SemiBold" pitchFamily="2" charset="-127"/>
                <a:ea typeface="프리젠테이션 6 SemiBold" pitchFamily="2" charset="-127"/>
              </a:rPr>
              <a:t>동작 예제 코드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3B51DA-6E4F-F4D8-D579-3D4EF8CDDD33}"/>
              </a:ext>
            </a:extLst>
          </p:cNvPr>
          <p:cNvSpPr txBox="1"/>
          <p:nvPr/>
        </p:nvSpPr>
        <p:spPr>
          <a:xfrm>
            <a:off x="4780447" y="1242490"/>
            <a:ext cx="217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dirty="0">
                <a:latin typeface="프리젠테이션 6 SemiBold" pitchFamily="2" charset="-127"/>
                <a:ea typeface="프리젠테이션 6 SemiBold" pitchFamily="2" charset="-127"/>
              </a:rPr>
              <a:t>압력센서</a:t>
            </a:r>
            <a:r>
              <a:rPr lang="en-US" altLang="ko-KR" dirty="0">
                <a:latin typeface="프리젠테이션 6 SemiBold" pitchFamily="2" charset="-127"/>
                <a:ea typeface="프리젠테이션 6 SemiBold" pitchFamily="2" charset="-127"/>
              </a:rPr>
              <a:t> </a:t>
            </a:r>
            <a:r>
              <a:rPr lang="ko-KR" altLang="en-US" dirty="0">
                <a:latin typeface="프리젠테이션 6 SemiBold" pitchFamily="2" charset="-127"/>
                <a:ea typeface="프리젠테이션 6 SemiBold" pitchFamily="2" charset="-127"/>
              </a:rPr>
              <a:t>예제 코드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9EA83C2-5DB9-D55A-445D-2502CB5A6B7F}"/>
              </a:ext>
            </a:extLst>
          </p:cNvPr>
          <p:cNvSpPr/>
          <p:nvPr/>
        </p:nvSpPr>
        <p:spPr>
          <a:xfrm>
            <a:off x="129984" y="1611822"/>
            <a:ext cx="4123737" cy="4262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rtl="0"/>
            <a:br>
              <a:rPr lang="en-US" altLang="ko-KR" sz="600" b="0" i="0" u="none" strike="noStrike" dirty="0">
                <a:solidFill>
                  <a:srgbClr val="000000"/>
                </a:solidFill>
                <a:effectLst/>
                <a:latin typeface="KoPubWorld돋움체_Pro Medium"/>
              </a:rPr>
            </a:br>
            <a:r>
              <a:rPr lang="en-US" altLang="ko-KR" sz="600" b="0" i="0" u="none" strike="noStrike" dirty="0">
                <a:solidFill>
                  <a:srgbClr val="000000"/>
                </a:solidFill>
                <a:effectLst/>
                <a:latin typeface="KoPubWorld돋움체_Pro Medium"/>
              </a:rPr>
              <a:t>	</a:t>
            </a:r>
            <a:br>
              <a:rPr lang="en-US" altLang="ko-KR" sz="700" dirty="0">
                <a:solidFill>
                  <a:srgbClr val="000000"/>
                </a:solidFill>
                <a:latin typeface="KoPubWorld돋움체_Pro Medium"/>
              </a:rPr>
            </a:br>
            <a:r>
              <a:rPr lang="en-US" altLang="ko-KR" sz="700" dirty="0">
                <a:solidFill>
                  <a:srgbClr val="000000"/>
                </a:solidFill>
                <a:latin typeface="KoPubWorld돋움체_Pro Medium"/>
              </a:rPr>
              <a:t>                      </a:t>
            </a:r>
            <a:r>
              <a:rPr lang="en-US" altLang="ko-KR" sz="800" b="0" i="0" u="none" strike="noStrike" dirty="0">
                <a:solidFill>
                  <a:srgbClr val="666666"/>
                </a:solidFill>
                <a:effectLst/>
                <a:latin typeface="KoPubWorld돋움체_Pro Medium"/>
              </a:rPr>
              <a:t>int SENSOR_PIN = 0; // center pin of the potentiometer</a:t>
            </a:r>
            <a:endParaRPr lang="en-US" altLang="ko-KR" sz="800" b="0" dirty="0">
              <a:effectLst/>
              <a:latin typeface="KoPubWorld돋움체_Pro Medium"/>
            </a:endParaRPr>
          </a:p>
          <a:p>
            <a:pPr marL="457200" rtl="0"/>
            <a:r>
              <a:rPr lang="en-US" altLang="ko-KR" sz="800" b="0" i="0" u="none" strike="noStrike" dirty="0">
                <a:solidFill>
                  <a:srgbClr val="666666"/>
                </a:solidFill>
                <a:effectLst/>
                <a:latin typeface="KoPubWorld돋움체_Pro Medium"/>
              </a:rPr>
              <a:t>int </a:t>
            </a:r>
            <a:r>
              <a:rPr lang="en-US" altLang="ko-KR" sz="800" b="0" i="0" u="none" strike="noStrike" dirty="0" err="1">
                <a:solidFill>
                  <a:srgbClr val="666666"/>
                </a:solidFill>
                <a:effectLst/>
                <a:latin typeface="KoPubWorld돋움체_Pro Medium"/>
              </a:rPr>
              <a:t>RPWM_Output</a:t>
            </a:r>
            <a:r>
              <a:rPr lang="en-US" altLang="ko-KR" sz="800" b="0" i="0" u="none" strike="noStrike" dirty="0">
                <a:solidFill>
                  <a:srgbClr val="666666"/>
                </a:solidFill>
                <a:effectLst/>
                <a:latin typeface="KoPubWorld돋움체_Pro Medium"/>
              </a:rPr>
              <a:t> = 5; // Arduino PWM output pin 5; connect to IBT-2 pin 1 (RPWM)</a:t>
            </a:r>
            <a:endParaRPr lang="en-US" altLang="ko-KR" sz="800" b="0" dirty="0">
              <a:effectLst/>
              <a:latin typeface="KoPubWorld돋움체_Pro Medium"/>
            </a:endParaRPr>
          </a:p>
          <a:p>
            <a:pPr marL="457200" rtl="0"/>
            <a:r>
              <a:rPr lang="en-US" altLang="ko-KR" sz="800" b="0" i="0" u="none" strike="noStrike" dirty="0">
                <a:solidFill>
                  <a:srgbClr val="666666"/>
                </a:solidFill>
                <a:effectLst/>
                <a:latin typeface="KoPubWorld돋움체_Pro Medium"/>
              </a:rPr>
              <a:t>int </a:t>
            </a:r>
            <a:r>
              <a:rPr lang="en-US" altLang="ko-KR" sz="800" b="0" i="0" u="none" strike="noStrike" dirty="0" err="1">
                <a:solidFill>
                  <a:srgbClr val="666666"/>
                </a:solidFill>
                <a:effectLst/>
                <a:latin typeface="KoPubWorld돋움체_Pro Medium"/>
              </a:rPr>
              <a:t>LPWM_Output</a:t>
            </a:r>
            <a:r>
              <a:rPr lang="en-US" altLang="ko-KR" sz="800" b="0" i="0" u="none" strike="noStrike" dirty="0">
                <a:solidFill>
                  <a:srgbClr val="666666"/>
                </a:solidFill>
                <a:effectLst/>
                <a:latin typeface="KoPubWorld돋움체_Pro Medium"/>
              </a:rPr>
              <a:t> = 6; // Arduino PWM output pin 6; connect to IBT-2 pin 2 (LPWM)</a:t>
            </a:r>
            <a:endParaRPr lang="en-US" altLang="ko-KR" sz="800" b="0" dirty="0">
              <a:effectLst/>
              <a:latin typeface="KoPubWorld돋움체_Pro Medium"/>
            </a:endParaRPr>
          </a:p>
          <a:p>
            <a:pPr marL="457200" rtl="0"/>
            <a:r>
              <a:rPr lang="en-US" altLang="ko-KR" sz="800" b="0" i="0" u="none" strike="noStrike" dirty="0">
                <a:solidFill>
                  <a:srgbClr val="666666"/>
                </a:solidFill>
                <a:effectLst/>
                <a:latin typeface="KoPubWorld돋움체_Pro Medium"/>
              </a:rPr>
              <a:t>void setup()</a:t>
            </a:r>
            <a:endParaRPr lang="en-US" altLang="ko-KR" sz="800" b="0" dirty="0">
              <a:effectLst/>
              <a:latin typeface="KoPubWorld돋움체_Pro Medium"/>
            </a:endParaRPr>
          </a:p>
          <a:p>
            <a:pPr marL="457200" rtl="0"/>
            <a:r>
              <a:rPr lang="en-US" altLang="ko-KR" sz="800" b="0" i="0" u="none" strike="noStrike" dirty="0">
                <a:solidFill>
                  <a:srgbClr val="666666"/>
                </a:solidFill>
                <a:effectLst/>
                <a:latin typeface="KoPubWorld돋움체_Pro Medium"/>
              </a:rPr>
              <a:t>{</a:t>
            </a:r>
            <a:endParaRPr lang="en-US" altLang="ko-KR" sz="800" b="0" dirty="0">
              <a:effectLst/>
              <a:latin typeface="KoPubWorld돋움체_Pro Medium"/>
            </a:endParaRPr>
          </a:p>
          <a:p>
            <a:pPr marL="457200" rtl="0"/>
            <a:r>
              <a:rPr lang="en-US" altLang="ko-KR" sz="800" b="0" i="0" u="none" strike="noStrike" dirty="0">
                <a:solidFill>
                  <a:srgbClr val="666666"/>
                </a:solidFill>
                <a:effectLst/>
                <a:latin typeface="KoPubWorld돋움체_Pro Medium"/>
              </a:rPr>
              <a:t> </a:t>
            </a:r>
            <a:r>
              <a:rPr lang="en-US" altLang="ko-KR" sz="800" b="0" i="0" u="none" strike="noStrike" dirty="0" err="1">
                <a:solidFill>
                  <a:srgbClr val="666666"/>
                </a:solidFill>
                <a:effectLst/>
                <a:latin typeface="KoPubWorld돋움체_Pro Medium"/>
              </a:rPr>
              <a:t>pinMode</a:t>
            </a:r>
            <a:r>
              <a:rPr lang="en-US" altLang="ko-KR" sz="800" b="0" i="0" u="none" strike="noStrike" dirty="0">
                <a:solidFill>
                  <a:srgbClr val="666666"/>
                </a:solidFill>
                <a:effectLst/>
                <a:latin typeface="KoPubWorld돋움체_Pro Medium"/>
              </a:rPr>
              <a:t>(</a:t>
            </a:r>
            <a:r>
              <a:rPr lang="en-US" altLang="ko-KR" sz="800" b="0" i="0" u="none" strike="noStrike" dirty="0" err="1">
                <a:solidFill>
                  <a:srgbClr val="666666"/>
                </a:solidFill>
                <a:effectLst/>
                <a:latin typeface="KoPubWorld돋움체_Pro Medium"/>
              </a:rPr>
              <a:t>RPWM_Output</a:t>
            </a:r>
            <a:r>
              <a:rPr lang="en-US" altLang="ko-KR" sz="800" b="0" i="0" u="none" strike="noStrike" dirty="0">
                <a:solidFill>
                  <a:srgbClr val="666666"/>
                </a:solidFill>
                <a:effectLst/>
                <a:latin typeface="KoPubWorld돋움체_Pro Medium"/>
              </a:rPr>
              <a:t>, OUTPUT);</a:t>
            </a:r>
            <a:endParaRPr lang="en-US" altLang="ko-KR" sz="800" b="0" dirty="0">
              <a:effectLst/>
              <a:latin typeface="KoPubWorld돋움체_Pro Medium"/>
            </a:endParaRPr>
          </a:p>
          <a:p>
            <a:pPr marL="457200" rtl="0"/>
            <a:r>
              <a:rPr lang="en-US" altLang="ko-KR" sz="800" b="0" i="0" u="none" strike="noStrike" dirty="0">
                <a:solidFill>
                  <a:srgbClr val="666666"/>
                </a:solidFill>
                <a:effectLst/>
                <a:latin typeface="KoPubWorld돋움체_Pro Medium"/>
              </a:rPr>
              <a:t> </a:t>
            </a:r>
            <a:r>
              <a:rPr lang="en-US" altLang="ko-KR" sz="800" b="0" i="0" u="none" strike="noStrike" dirty="0" err="1">
                <a:solidFill>
                  <a:srgbClr val="666666"/>
                </a:solidFill>
                <a:effectLst/>
                <a:latin typeface="KoPubWorld돋움체_Pro Medium"/>
              </a:rPr>
              <a:t>pinMode</a:t>
            </a:r>
            <a:r>
              <a:rPr lang="en-US" altLang="ko-KR" sz="800" b="0" i="0" u="none" strike="noStrike" dirty="0">
                <a:solidFill>
                  <a:srgbClr val="666666"/>
                </a:solidFill>
                <a:effectLst/>
                <a:latin typeface="KoPubWorld돋움체_Pro Medium"/>
              </a:rPr>
              <a:t>(</a:t>
            </a:r>
            <a:r>
              <a:rPr lang="en-US" altLang="ko-KR" sz="800" b="0" i="0" u="none" strike="noStrike" dirty="0" err="1">
                <a:solidFill>
                  <a:srgbClr val="666666"/>
                </a:solidFill>
                <a:effectLst/>
                <a:latin typeface="KoPubWorld돋움체_Pro Medium"/>
              </a:rPr>
              <a:t>LPWM_Output</a:t>
            </a:r>
            <a:r>
              <a:rPr lang="en-US" altLang="ko-KR" sz="800" b="0" i="0" u="none" strike="noStrike" dirty="0">
                <a:solidFill>
                  <a:srgbClr val="666666"/>
                </a:solidFill>
                <a:effectLst/>
                <a:latin typeface="KoPubWorld돋움체_Pro Medium"/>
              </a:rPr>
              <a:t>, OUTPUT);</a:t>
            </a:r>
            <a:endParaRPr lang="en-US" altLang="ko-KR" sz="800" b="0" dirty="0">
              <a:effectLst/>
              <a:latin typeface="KoPubWorld돋움체_Pro Medium"/>
            </a:endParaRPr>
          </a:p>
          <a:p>
            <a:pPr marL="457200" rtl="0"/>
            <a:r>
              <a:rPr lang="en-US" altLang="ko-KR" sz="800" b="0" i="0" u="none" strike="noStrike" dirty="0">
                <a:solidFill>
                  <a:srgbClr val="666666"/>
                </a:solidFill>
                <a:effectLst/>
                <a:latin typeface="KoPubWorld돋움체_Pro Medium"/>
              </a:rPr>
              <a:t>}</a:t>
            </a:r>
            <a:endParaRPr lang="en-US" altLang="ko-KR" sz="800" b="0" dirty="0">
              <a:effectLst/>
              <a:latin typeface="KoPubWorld돋움체_Pro Medium"/>
            </a:endParaRPr>
          </a:p>
          <a:p>
            <a:pPr marL="457200" rtl="0"/>
            <a:r>
              <a:rPr lang="en-US" altLang="ko-KR" sz="800" b="0" i="0" u="none" strike="noStrike" dirty="0">
                <a:solidFill>
                  <a:srgbClr val="666666"/>
                </a:solidFill>
                <a:effectLst/>
                <a:latin typeface="KoPubWorld돋움체_Pro Medium"/>
              </a:rPr>
              <a:t>void loop()</a:t>
            </a:r>
            <a:endParaRPr lang="en-US" altLang="ko-KR" sz="800" b="0" dirty="0">
              <a:effectLst/>
              <a:latin typeface="KoPubWorld돋움체_Pro Medium"/>
            </a:endParaRPr>
          </a:p>
          <a:p>
            <a:pPr marL="457200" rtl="0"/>
            <a:r>
              <a:rPr lang="en-US" altLang="ko-KR" sz="800" b="0" i="0" u="none" strike="noStrike" dirty="0">
                <a:solidFill>
                  <a:srgbClr val="666666"/>
                </a:solidFill>
                <a:effectLst/>
                <a:latin typeface="KoPubWorld돋움체_Pro Medium"/>
              </a:rPr>
              <a:t>{</a:t>
            </a:r>
            <a:endParaRPr lang="en-US" altLang="ko-KR" sz="800" b="0" dirty="0">
              <a:effectLst/>
              <a:latin typeface="KoPubWorld돋움체_Pro Medium"/>
            </a:endParaRPr>
          </a:p>
          <a:p>
            <a:pPr marL="457200" rtl="0"/>
            <a:r>
              <a:rPr lang="en-US" altLang="ko-KR" sz="800" b="0" i="0" u="none" strike="noStrike" dirty="0">
                <a:solidFill>
                  <a:srgbClr val="666666"/>
                </a:solidFill>
                <a:effectLst/>
                <a:latin typeface="KoPubWorld돋움체_Pro Medium"/>
              </a:rPr>
              <a:t> int </a:t>
            </a:r>
            <a:r>
              <a:rPr lang="en-US" altLang="ko-KR" sz="800" b="0" i="0" u="none" strike="noStrike" dirty="0" err="1">
                <a:solidFill>
                  <a:srgbClr val="666666"/>
                </a:solidFill>
                <a:effectLst/>
                <a:latin typeface="KoPubWorld돋움체_Pro Medium"/>
              </a:rPr>
              <a:t>sensorValue</a:t>
            </a:r>
            <a:r>
              <a:rPr lang="en-US" altLang="ko-KR" sz="800" b="0" i="0" u="none" strike="noStrike" dirty="0">
                <a:solidFill>
                  <a:srgbClr val="666666"/>
                </a:solidFill>
                <a:effectLst/>
                <a:latin typeface="KoPubWorld돋움체_Pro Medium"/>
              </a:rPr>
              <a:t> = </a:t>
            </a:r>
            <a:r>
              <a:rPr lang="en-US" altLang="ko-KR" sz="800" b="0" i="0" u="none" strike="noStrike" dirty="0" err="1">
                <a:solidFill>
                  <a:srgbClr val="666666"/>
                </a:solidFill>
                <a:effectLst/>
                <a:latin typeface="KoPubWorld돋움체_Pro Medium"/>
              </a:rPr>
              <a:t>analogRead</a:t>
            </a:r>
            <a:r>
              <a:rPr lang="en-US" altLang="ko-KR" sz="800" b="0" i="0" u="none" strike="noStrike" dirty="0">
                <a:solidFill>
                  <a:srgbClr val="666666"/>
                </a:solidFill>
                <a:effectLst/>
                <a:latin typeface="KoPubWorld돋움체_Pro Medium"/>
              </a:rPr>
              <a:t>(SENSOR_PIN);</a:t>
            </a:r>
            <a:endParaRPr lang="en-US" altLang="ko-KR" sz="800" b="0" dirty="0">
              <a:effectLst/>
              <a:latin typeface="KoPubWorld돋움체_Pro Medium"/>
            </a:endParaRPr>
          </a:p>
          <a:p>
            <a:pPr marL="457200" rtl="0"/>
            <a:r>
              <a:rPr lang="en-US" altLang="ko-KR" sz="800" b="0" i="0" u="none" strike="noStrike" dirty="0">
                <a:solidFill>
                  <a:srgbClr val="666666"/>
                </a:solidFill>
                <a:effectLst/>
                <a:latin typeface="KoPubWorld돋움체_Pro Medium"/>
              </a:rPr>
              <a:t> // sensor value is in the range 0 to 1023</a:t>
            </a:r>
            <a:endParaRPr lang="en-US" altLang="ko-KR" sz="800" b="0" dirty="0">
              <a:effectLst/>
              <a:latin typeface="KoPubWorld돋움체_Pro Medium"/>
            </a:endParaRPr>
          </a:p>
          <a:p>
            <a:pPr marL="457200" rtl="0"/>
            <a:r>
              <a:rPr lang="en-US" altLang="ko-KR" sz="800" b="0" i="0" u="none" strike="noStrike" dirty="0">
                <a:solidFill>
                  <a:srgbClr val="666666"/>
                </a:solidFill>
                <a:effectLst/>
                <a:latin typeface="KoPubWorld돋움체_Pro Medium"/>
              </a:rPr>
              <a:t> // the lower half of it we use for reverse rotation; the upper half for forward</a:t>
            </a:r>
            <a:endParaRPr lang="en-US" altLang="ko-KR" sz="800" b="0" dirty="0">
              <a:effectLst/>
              <a:latin typeface="KoPubWorld돋움체_Pro Medium"/>
            </a:endParaRPr>
          </a:p>
          <a:p>
            <a:pPr marL="457200" rtl="0"/>
            <a:r>
              <a:rPr lang="en-US" altLang="ko-KR" sz="800" b="0" i="0" u="none" strike="noStrike" dirty="0">
                <a:solidFill>
                  <a:srgbClr val="666666"/>
                </a:solidFill>
                <a:effectLst/>
                <a:latin typeface="KoPubWorld돋움체_Pro Medium"/>
              </a:rPr>
              <a:t>rotation</a:t>
            </a:r>
            <a:endParaRPr lang="en-US" altLang="ko-KR" sz="800" b="0" dirty="0">
              <a:effectLst/>
              <a:latin typeface="KoPubWorld돋움체_Pro Medium"/>
            </a:endParaRPr>
          </a:p>
          <a:p>
            <a:pPr marL="457200" rtl="0"/>
            <a:r>
              <a:rPr lang="en-US" altLang="ko-KR" sz="800" b="0" i="0" u="none" strike="noStrike" dirty="0">
                <a:solidFill>
                  <a:srgbClr val="666666"/>
                </a:solidFill>
                <a:effectLst/>
                <a:latin typeface="KoPubWorld돋움체_Pro Medium"/>
              </a:rPr>
              <a:t> if (</a:t>
            </a:r>
            <a:r>
              <a:rPr lang="en-US" altLang="ko-KR" sz="800" b="0" i="0" u="none" strike="noStrike" dirty="0" err="1">
                <a:solidFill>
                  <a:srgbClr val="666666"/>
                </a:solidFill>
                <a:effectLst/>
                <a:latin typeface="KoPubWorld돋움체_Pro Medium"/>
              </a:rPr>
              <a:t>sensorValue</a:t>
            </a:r>
            <a:r>
              <a:rPr lang="en-US" altLang="ko-KR" sz="800" b="0" i="0" u="none" strike="noStrike" dirty="0">
                <a:solidFill>
                  <a:srgbClr val="666666"/>
                </a:solidFill>
                <a:effectLst/>
                <a:latin typeface="KoPubWorld돋움체_Pro Medium"/>
              </a:rPr>
              <a:t> &lt; 512)</a:t>
            </a:r>
            <a:endParaRPr lang="en-US" altLang="ko-KR" sz="800" b="0" dirty="0">
              <a:effectLst/>
              <a:latin typeface="KoPubWorld돋움체_Pro Medium"/>
            </a:endParaRPr>
          </a:p>
          <a:p>
            <a:pPr marL="457200" rtl="0"/>
            <a:r>
              <a:rPr lang="en-US" altLang="ko-KR" sz="800" b="0" i="0" u="none" strike="noStrike" dirty="0">
                <a:solidFill>
                  <a:srgbClr val="666666"/>
                </a:solidFill>
                <a:effectLst/>
                <a:latin typeface="KoPubWorld돋움체_Pro Medium"/>
              </a:rPr>
              <a:t> {</a:t>
            </a:r>
            <a:endParaRPr lang="en-US" altLang="ko-KR" sz="800" b="0" dirty="0">
              <a:effectLst/>
              <a:latin typeface="KoPubWorld돋움체_Pro Medium"/>
            </a:endParaRPr>
          </a:p>
          <a:p>
            <a:pPr marL="457200" rtl="0"/>
            <a:r>
              <a:rPr lang="en-US" altLang="ko-KR" sz="800" b="0" i="0" u="none" strike="noStrike" dirty="0">
                <a:solidFill>
                  <a:srgbClr val="666666"/>
                </a:solidFill>
                <a:effectLst/>
                <a:latin typeface="KoPubWorld돋움체_Pro Medium"/>
              </a:rPr>
              <a:t> // reverse rotation</a:t>
            </a:r>
            <a:endParaRPr lang="en-US" altLang="ko-KR" sz="800" b="0" dirty="0">
              <a:effectLst/>
              <a:latin typeface="KoPubWorld돋움체_Pro Medium"/>
            </a:endParaRPr>
          </a:p>
          <a:p>
            <a:pPr marL="457200" rtl="0"/>
            <a:r>
              <a:rPr lang="en-US" altLang="ko-KR" sz="800" b="0" i="0" u="none" strike="noStrike" dirty="0">
                <a:solidFill>
                  <a:srgbClr val="666666"/>
                </a:solidFill>
                <a:effectLst/>
                <a:latin typeface="KoPubWorld돋움체_Pro Medium"/>
              </a:rPr>
              <a:t> int </a:t>
            </a:r>
            <a:r>
              <a:rPr lang="en-US" altLang="ko-KR" sz="800" b="0" i="0" u="none" strike="noStrike" dirty="0" err="1">
                <a:solidFill>
                  <a:srgbClr val="666666"/>
                </a:solidFill>
                <a:effectLst/>
                <a:latin typeface="KoPubWorld돋움체_Pro Medium"/>
              </a:rPr>
              <a:t>reversePWM</a:t>
            </a:r>
            <a:r>
              <a:rPr lang="en-US" altLang="ko-KR" sz="800" b="0" i="0" u="none" strike="noStrike" dirty="0">
                <a:solidFill>
                  <a:srgbClr val="666666"/>
                </a:solidFill>
                <a:effectLst/>
                <a:latin typeface="KoPubWorld돋움체_Pro Medium"/>
              </a:rPr>
              <a:t> = -(</a:t>
            </a:r>
            <a:r>
              <a:rPr lang="en-US" altLang="ko-KR" sz="800" b="0" i="0" u="none" strike="noStrike" dirty="0" err="1">
                <a:solidFill>
                  <a:srgbClr val="666666"/>
                </a:solidFill>
                <a:effectLst/>
                <a:latin typeface="KoPubWorld돋움체_Pro Medium"/>
              </a:rPr>
              <a:t>sensorValue</a:t>
            </a:r>
            <a:r>
              <a:rPr lang="en-US" altLang="ko-KR" sz="800" b="0" i="0" u="none" strike="noStrike" dirty="0">
                <a:solidFill>
                  <a:srgbClr val="666666"/>
                </a:solidFill>
                <a:effectLst/>
                <a:latin typeface="KoPubWorld돋움체_Pro Medium"/>
              </a:rPr>
              <a:t> - 511) / 2;</a:t>
            </a:r>
            <a:endParaRPr lang="en-US" altLang="ko-KR" sz="800" b="0" dirty="0">
              <a:effectLst/>
              <a:latin typeface="KoPubWorld돋움체_Pro Medium"/>
            </a:endParaRPr>
          </a:p>
          <a:p>
            <a:pPr marL="457200" rtl="0"/>
            <a:r>
              <a:rPr lang="en-US" altLang="ko-KR" sz="800" b="0" i="0" u="none" strike="noStrike" dirty="0">
                <a:solidFill>
                  <a:srgbClr val="666666"/>
                </a:solidFill>
                <a:effectLst/>
                <a:latin typeface="KoPubWorld돋움체_Pro Medium"/>
              </a:rPr>
              <a:t> </a:t>
            </a:r>
            <a:r>
              <a:rPr lang="en-US" altLang="ko-KR" sz="800" b="0" i="0" u="none" strike="noStrike" dirty="0" err="1">
                <a:solidFill>
                  <a:srgbClr val="666666"/>
                </a:solidFill>
                <a:effectLst/>
                <a:latin typeface="KoPubWorld돋움체_Pro Medium"/>
              </a:rPr>
              <a:t>analogWrite</a:t>
            </a:r>
            <a:r>
              <a:rPr lang="en-US" altLang="ko-KR" sz="800" b="0" i="0" u="none" strike="noStrike" dirty="0">
                <a:solidFill>
                  <a:srgbClr val="666666"/>
                </a:solidFill>
                <a:effectLst/>
                <a:latin typeface="KoPubWorld돋움체_Pro Medium"/>
              </a:rPr>
              <a:t>(</a:t>
            </a:r>
            <a:r>
              <a:rPr lang="en-US" altLang="ko-KR" sz="800" b="0" i="0" u="none" strike="noStrike" dirty="0" err="1">
                <a:solidFill>
                  <a:srgbClr val="666666"/>
                </a:solidFill>
                <a:effectLst/>
                <a:latin typeface="KoPubWorld돋움체_Pro Medium"/>
              </a:rPr>
              <a:t>LPWM_Output</a:t>
            </a:r>
            <a:r>
              <a:rPr lang="en-US" altLang="ko-KR" sz="800" b="0" i="0" u="none" strike="noStrike" dirty="0">
                <a:solidFill>
                  <a:srgbClr val="666666"/>
                </a:solidFill>
                <a:effectLst/>
                <a:latin typeface="KoPubWorld돋움체_Pro Medium"/>
              </a:rPr>
              <a:t>, 0);</a:t>
            </a:r>
            <a:endParaRPr lang="en-US" altLang="ko-KR" sz="800" b="0" dirty="0">
              <a:effectLst/>
              <a:latin typeface="KoPubWorld돋움체_Pro Medium"/>
            </a:endParaRPr>
          </a:p>
          <a:p>
            <a:pPr marL="457200" rtl="0"/>
            <a:r>
              <a:rPr lang="en-US" altLang="ko-KR" sz="800" b="0" i="0" u="none" strike="noStrike" dirty="0">
                <a:solidFill>
                  <a:srgbClr val="666666"/>
                </a:solidFill>
                <a:effectLst/>
                <a:latin typeface="KoPubWorld돋움체_Pro Medium"/>
              </a:rPr>
              <a:t> </a:t>
            </a:r>
            <a:r>
              <a:rPr lang="en-US" altLang="ko-KR" sz="800" b="0" i="0" u="none" strike="noStrike" dirty="0" err="1">
                <a:solidFill>
                  <a:srgbClr val="666666"/>
                </a:solidFill>
                <a:effectLst/>
                <a:latin typeface="KoPubWorld돋움체_Pro Medium"/>
              </a:rPr>
              <a:t>analogWrite</a:t>
            </a:r>
            <a:r>
              <a:rPr lang="en-US" altLang="ko-KR" sz="800" b="0" i="0" u="none" strike="noStrike" dirty="0">
                <a:solidFill>
                  <a:srgbClr val="666666"/>
                </a:solidFill>
                <a:effectLst/>
                <a:latin typeface="KoPubWorld돋움체_Pro Medium"/>
              </a:rPr>
              <a:t>(</a:t>
            </a:r>
            <a:r>
              <a:rPr lang="en-US" altLang="ko-KR" sz="800" b="0" i="0" u="none" strike="noStrike" dirty="0" err="1">
                <a:solidFill>
                  <a:srgbClr val="666666"/>
                </a:solidFill>
                <a:effectLst/>
                <a:latin typeface="KoPubWorld돋움체_Pro Medium"/>
              </a:rPr>
              <a:t>RPWM_Output</a:t>
            </a:r>
            <a:r>
              <a:rPr lang="en-US" altLang="ko-KR" sz="800" b="0" i="0" u="none" strike="noStrike" dirty="0">
                <a:solidFill>
                  <a:srgbClr val="666666"/>
                </a:solidFill>
                <a:effectLst/>
                <a:latin typeface="KoPubWorld돋움체_Pro Medium"/>
              </a:rPr>
              <a:t>, </a:t>
            </a:r>
            <a:r>
              <a:rPr lang="en-US" altLang="ko-KR" sz="800" b="0" i="0" u="none" strike="noStrike" dirty="0" err="1">
                <a:solidFill>
                  <a:srgbClr val="666666"/>
                </a:solidFill>
                <a:effectLst/>
                <a:latin typeface="KoPubWorld돋움체_Pro Medium"/>
              </a:rPr>
              <a:t>reversePWM</a:t>
            </a:r>
            <a:r>
              <a:rPr lang="en-US" altLang="ko-KR" sz="800" b="0" i="0" u="none" strike="noStrike" dirty="0">
                <a:solidFill>
                  <a:srgbClr val="666666"/>
                </a:solidFill>
                <a:effectLst/>
                <a:latin typeface="KoPubWorld돋움체_Pro Medium"/>
              </a:rPr>
              <a:t>);</a:t>
            </a:r>
            <a:endParaRPr lang="en-US" altLang="ko-KR" sz="800" b="0" dirty="0">
              <a:effectLst/>
              <a:latin typeface="KoPubWorld돋움체_Pro Medium"/>
            </a:endParaRPr>
          </a:p>
          <a:p>
            <a:pPr marL="457200" rtl="0"/>
            <a:r>
              <a:rPr lang="en-US" altLang="ko-KR" sz="800" b="0" i="0" u="none" strike="noStrike" dirty="0">
                <a:solidFill>
                  <a:srgbClr val="666666"/>
                </a:solidFill>
                <a:effectLst/>
                <a:latin typeface="KoPubWorld돋움체_Pro Medium"/>
              </a:rPr>
              <a:t> }</a:t>
            </a:r>
            <a:endParaRPr lang="en-US" altLang="ko-KR" sz="800" b="0" dirty="0">
              <a:effectLst/>
              <a:latin typeface="KoPubWorld돋움체_Pro Medium"/>
            </a:endParaRPr>
          </a:p>
          <a:p>
            <a:pPr marL="457200" rtl="0"/>
            <a:r>
              <a:rPr lang="en-US" altLang="ko-KR" sz="800" b="0" i="0" u="none" strike="noStrike" dirty="0">
                <a:solidFill>
                  <a:srgbClr val="666666"/>
                </a:solidFill>
                <a:effectLst/>
                <a:latin typeface="KoPubWorld돋움체_Pro Medium"/>
              </a:rPr>
              <a:t> else</a:t>
            </a:r>
            <a:endParaRPr lang="en-US" altLang="ko-KR" sz="800" b="0" dirty="0">
              <a:effectLst/>
              <a:latin typeface="KoPubWorld돋움체_Pro Medium"/>
            </a:endParaRPr>
          </a:p>
          <a:p>
            <a:pPr marL="457200" rtl="0"/>
            <a:r>
              <a:rPr lang="en-US" altLang="ko-KR" sz="800" b="0" i="0" u="none" strike="noStrike" dirty="0">
                <a:solidFill>
                  <a:srgbClr val="666666"/>
                </a:solidFill>
                <a:effectLst/>
                <a:latin typeface="KoPubWorld돋움체_Pro Medium"/>
              </a:rPr>
              <a:t> {</a:t>
            </a:r>
            <a:endParaRPr lang="en-US" altLang="ko-KR" sz="800" b="0" dirty="0">
              <a:effectLst/>
              <a:latin typeface="KoPubWorld돋움체_Pro Medium"/>
            </a:endParaRPr>
          </a:p>
          <a:p>
            <a:pPr marL="457200" rtl="0"/>
            <a:r>
              <a:rPr lang="en-US" altLang="ko-KR" sz="800" b="0" i="0" u="none" strike="noStrike" dirty="0">
                <a:solidFill>
                  <a:srgbClr val="666666"/>
                </a:solidFill>
                <a:effectLst/>
                <a:latin typeface="KoPubWorld돋움체_Pro Medium"/>
              </a:rPr>
              <a:t> // forward rotation</a:t>
            </a:r>
            <a:endParaRPr lang="en-US" altLang="ko-KR" sz="800" b="0" dirty="0">
              <a:effectLst/>
              <a:latin typeface="KoPubWorld돋움체_Pro Medium"/>
            </a:endParaRPr>
          </a:p>
          <a:p>
            <a:pPr marL="457200" rtl="0"/>
            <a:r>
              <a:rPr lang="en-US" altLang="ko-KR" sz="800" b="0" i="0" u="none" strike="noStrike" dirty="0">
                <a:solidFill>
                  <a:srgbClr val="666666"/>
                </a:solidFill>
                <a:effectLst/>
                <a:latin typeface="KoPubWorld돋움체_Pro Medium"/>
              </a:rPr>
              <a:t> int </a:t>
            </a:r>
            <a:r>
              <a:rPr lang="en-US" altLang="ko-KR" sz="800" b="0" i="0" u="none" strike="noStrike" dirty="0" err="1">
                <a:solidFill>
                  <a:srgbClr val="666666"/>
                </a:solidFill>
                <a:effectLst/>
                <a:latin typeface="KoPubWorld돋움체_Pro Medium"/>
              </a:rPr>
              <a:t>forwardPWM</a:t>
            </a:r>
            <a:r>
              <a:rPr lang="en-US" altLang="ko-KR" sz="800" b="0" i="0" u="none" strike="noStrike" dirty="0">
                <a:solidFill>
                  <a:srgbClr val="666666"/>
                </a:solidFill>
                <a:effectLst/>
                <a:latin typeface="KoPubWorld돋움체_Pro Medium"/>
              </a:rPr>
              <a:t> = (</a:t>
            </a:r>
            <a:r>
              <a:rPr lang="en-US" altLang="ko-KR" sz="800" b="0" i="0" u="none" strike="noStrike" dirty="0" err="1">
                <a:solidFill>
                  <a:srgbClr val="666666"/>
                </a:solidFill>
                <a:effectLst/>
                <a:latin typeface="KoPubWorld돋움체_Pro Medium"/>
              </a:rPr>
              <a:t>sensorValue</a:t>
            </a:r>
            <a:r>
              <a:rPr lang="en-US" altLang="ko-KR" sz="800" b="0" i="0" u="none" strike="noStrike" dirty="0">
                <a:solidFill>
                  <a:srgbClr val="666666"/>
                </a:solidFill>
                <a:effectLst/>
                <a:latin typeface="KoPubWorld돋움체_Pro Medium"/>
              </a:rPr>
              <a:t> - 512) / 2;</a:t>
            </a:r>
            <a:endParaRPr lang="en-US" altLang="ko-KR" sz="800" b="0" dirty="0">
              <a:effectLst/>
              <a:latin typeface="KoPubWorld돋움체_Pro Medium"/>
            </a:endParaRPr>
          </a:p>
          <a:p>
            <a:pPr marL="457200" rtl="0"/>
            <a:r>
              <a:rPr lang="en-US" altLang="ko-KR" sz="800" b="0" i="0" u="none" strike="noStrike" dirty="0">
                <a:solidFill>
                  <a:srgbClr val="666666"/>
                </a:solidFill>
                <a:effectLst/>
                <a:latin typeface="KoPubWorld돋움체_Pro Medium"/>
              </a:rPr>
              <a:t> </a:t>
            </a:r>
            <a:r>
              <a:rPr lang="en-US" altLang="ko-KR" sz="800" b="0" i="0" u="none" strike="noStrike" dirty="0" err="1">
                <a:solidFill>
                  <a:srgbClr val="666666"/>
                </a:solidFill>
                <a:effectLst/>
                <a:latin typeface="KoPubWorld돋움체_Pro Medium"/>
              </a:rPr>
              <a:t>analogWrite</a:t>
            </a:r>
            <a:r>
              <a:rPr lang="en-US" altLang="ko-KR" sz="800" b="0" i="0" u="none" strike="noStrike" dirty="0">
                <a:solidFill>
                  <a:srgbClr val="666666"/>
                </a:solidFill>
                <a:effectLst/>
                <a:latin typeface="KoPubWorld돋움체_Pro Medium"/>
              </a:rPr>
              <a:t>(</a:t>
            </a:r>
            <a:r>
              <a:rPr lang="en-US" altLang="ko-KR" sz="800" b="0" i="0" u="none" strike="noStrike" dirty="0" err="1">
                <a:solidFill>
                  <a:srgbClr val="666666"/>
                </a:solidFill>
                <a:effectLst/>
                <a:latin typeface="KoPubWorld돋움체_Pro Medium"/>
              </a:rPr>
              <a:t>LPWM_Output</a:t>
            </a:r>
            <a:r>
              <a:rPr lang="en-US" altLang="ko-KR" sz="800" b="0" i="0" u="none" strike="noStrike" dirty="0">
                <a:solidFill>
                  <a:srgbClr val="666666"/>
                </a:solidFill>
                <a:effectLst/>
                <a:latin typeface="KoPubWorld돋움체_Pro Medium"/>
              </a:rPr>
              <a:t>, </a:t>
            </a:r>
            <a:r>
              <a:rPr lang="en-US" altLang="ko-KR" sz="800" b="0" i="0" u="none" strike="noStrike" dirty="0" err="1">
                <a:solidFill>
                  <a:srgbClr val="666666"/>
                </a:solidFill>
                <a:effectLst/>
                <a:latin typeface="KoPubWorld돋움체_Pro Medium"/>
              </a:rPr>
              <a:t>forwardPWM</a:t>
            </a:r>
            <a:r>
              <a:rPr lang="en-US" altLang="ko-KR" sz="800" b="0" i="0" u="none" strike="noStrike" dirty="0">
                <a:solidFill>
                  <a:srgbClr val="666666"/>
                </a:solidFill>
                <a:effectLst/>
                <a:latin typeface="KoPubWorld돋움체_Pro Medium"/>
              </a:rPr>
              <a:t>);</a:t>
            </a:r>
            <a:endParaRPr lang="en-US" altLang="ko-KR" sz="800" b="0" dirty="0">
              <a:effectLst/>
              <a:latin typeface="KoPubWorld돋움체_Pro Medium"/>
            </a:endParaRPr>
          </a:p>
          <a:p>
            <a:pPr marL="457200" rtl="0"/>
            <a:r>
              <a:rPr lang="en-US" altLang="ko-KR" sz="800" b="0" i="0" u="none" strike="noStrike" dirty="0">
                <a:solidFill>
                  <a:srgbClr val="666666"/>
                </a:solidFill>
                <a:effectLst/>
                <a:latin typeface="KoPubWorld돋움체_Pro Medium"/>
              </a:rPr>
              <a:t> </a:t>
            </a:r>
            <a:r>
              <a:rPr lang="en-US" altLang="ko-KR" sz="800" b="0" i="0" u="none" strike="noStrike" dirty="0" err="1">
                <a:solidFill>
                  <a:srgbClr val="666666"/>
                </a:solidFill>
                <a:effectLst/>
                <a:latin typeface="KoPubWorld돋움체_Pro Medium"/>
              </a:rPr>
              <a:t>analogWrite</a:t>
            </a:r>
            <a:r>
              <a:rPr lang="en-US" altLang="ko-KR" sz="800" b="0" i="0" u="none" strike="noStrike" dirty="0">
                <a:solidFill>
                  <a:srgbClr val="666666"/>
                </a:solidFill>
                <a:effectLst/>
                <a:latin typeface="KoPubWorld돋움체_Pro Medium"/>
              </a:rPr>
              <a:t>(</a:t>
            </a:r>
            <a:r>
              <a:rPr lang="en-US" altLang="ko-KR" sz="800" b="0" i="0" u="none" strike="noStrike" dirty="0" err="1">
                <a:solidFill>
                  <a:srgbClr val="666666"/>
                </a:solidFill>
                <a:effectLst/>
                <a:latin typeface="KoPubWorld돋움체_Pro Medium"/>
              </a:rPr>
              <a:t>RPWM_Output</a:t>
            </a:r>
            <a:r>
              <a:rPr lang="en-US" altLang="ko-KR" sz="800" b="0" i="0" u="none" strike="noStrike" dirty="0">
                <a:solidFill>
                  <a:srgbClr val="666666"/>
                </a:solidFill>
                <a:effectLst/>
                <a:latin typeface="KoPubWorld돋움체_Pro Medium"/>
              </a:rPr>
              <a:t>, 0);</a:t>
            </a:r>
            <a:endParaRPr lang="en-US" altLang="ko-KR" sz="800" b="0" dirty="0">
              <a:effectLst/>
              <a:latin typeface="KoPubWorld돋움체_Pro Medium"/>
            </a:endParaRPr>
          </a:p>
          <a:p>
            <a:pPr marL="457200" rtl="0"/>
            <a:r>
              <a:rPr lang="en-US" altLang="ko-KR" sz="800" b="0" i="0" u="none" strike="noStrike" dirty="0">
                <a:solidFill>
                  <a:srgbClr val="666666"/>
                </a:solidFill>
                <a:effectLst/>
                <a:latin typeface="KoPubWorld돋움체_Pro Medium"/>
              </a:rPr>
              <a:t> }</a:t>
            </a:r>
            <a:endParaRPr lang="en-US" altLang="ko-KR" sz="800" b="0" dirty="0">
              <a:effectLst/>
              <a:latin typeface="KoPubWorld돋움체_Pro Medium"/>
            </a:endParaRPr>
          </a:p>
          <a:p>
            <a:pPr marL="457200" rtl="0"/>
            <a:r>
              <a:rPr lang="en-US" altLang="ko-KR" sz="800" b="0" i="0" u="none" strike="noStrike" dirty="0">
                <a:solidFill>
                  <a:srgbClr val="666666"/>
                </a:solidFill>
                <a:effectLst/>
                <a:latin typeface="KoPubWorld돋움체_Pro Medium"/>
              </a:rPr>
              <a:t>}</a:t>
            </a:r>
            <a:endParaRPr lang="en-US" altLang="ko-KR" sz="800" b="0" dirty="0">
              <a:effectLst/>
              <a:latin typeface="KoPubWorld돋움체_Pro Medium"/>
            </a:endParaRPr>
          </a:p>
          <a:p>
            <a:br>
              <a:rPr lang="en-US" altLang="ko-KR" sz="1400" dirty="0"/>
            </a:br>
            <a:endParaRPr lang="en-US" altLang="ko-KR" sz="1300" b="1" dirty="0">
              <a:latin typeface="KoPubWorld돋움체_Pro Medium"/>
              <a:ea typeface="KoPubWorld돋움체_Pro Medium"/>
              <a:cs typeface="KoPubWorld돋움체_Pro Medium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6471143-3AD3-0A59-6C5C-BB88491130BE}"/>
              </a:ext>
            </a:extLst>
          </p:cNvPr>
          <p:cNvSpPr/>
          <p:nvPr/>
        </p:nvSpPr>
        <p:spPr>
          <a:xfrm>
            <a:off x="4462913" y="1448071"/>
            <a:ext cx="4123737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rtl="0"/>
            <a:br>
              <a:rPr lang="en-US" altLang="ko-KR" sz="800" b="0" i="0" u="none" strike="noStrike" dirty="0">
                <a:solidFill>
                  <a:schemeClr val="bg1">
                    <a:lumMod val="50000"/>
                  </a:schemeClr>
                </a:solidFill>
                <a:effectLst/>
                <a:latin typeface="KoPubWorld돋움체_Pro Medium"/>
              </a:rPr>
            </a:br>
            <a:br>
              <a:rPr lang="en-US" altLang="ko-KR" sz="800" b="0" i="0" u="none" strike="noStrike" dirty="0">
                <a:solidFill>
                  <a:schemeClr val="bg1">
                    <a:lumMod val="50000"/>
                  </a:schemeClr>
                </a:solidFill>
                <a:effectLst/>
                <a:latin typeface="KoPubWorld돋움체_Pro Medium"/>
              </a:rPr>
            </a:b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int </a:t>
            </a:r>
            <a:r>
              <a:rPr lang="en-US" altLang="ko-KR" sz="800" dirty="0" err="1">
                <a:solidFill>
                  <a:schemeClr val="bg1">
                    <a:lumMod val="50000"/>
                  </a:schemeClr>
                </a:solidFill>
              </a:rPr>
              <a:t>FlexPin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 = A0; // </a:t>
            </a:r>
            <a:r>
              <a:rPr lang="ko-KR" altLang="en-US" sz="800" dirty="0" err="1">
                <a:solidFill>
                  <a:schemeClr val="bg1">
                    <a:lumMod val="50000"/>
                  </a:schemeClr>
                </a:solidFill>
              </a:rPr>
              <a:t>센서값을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</a:rPr>
              <a:t> 읽기 위해 아날로그핀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0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</a:rPr>
              <a:t>번을</a:t>
            </a:r>
            <a:r>
              <a:rPr lang="en-US" altLang="ko-KR" sz="800" dirty="0" err="1">
                <a:solidFill>
                  <a:schemeClr val="bg1">
                    <a:lumMod val="50000"/>
                  </a:schemeClr>
                </a:solidFill>
              </a:rPr>
              <a:t>FlexPin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</a:rPr>
              <a:t>에 지정한다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. void setup() </a:t>
            </a:r>
          </a:p>
          <a:p>
            <a:pPr marL="457200" rtl="0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{ </a:t>
            </a:r>
          </a:p>
          <a:p>
            <a:pPr marL="457200" rtl="0"/>
            <a:r>
              <a:rPr lang="en-US" altLang="ko-KR" sz="800" dirty="0" err="1">
                <a:solidFill>
                  <a:schemeClr val="bg1">
                    <a:lumMod val="50000"/>
                  </a:schemeClr>
                </a:solidFill>
              </a:rPr>
              <a:t>Serial.begin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(9600); // </a:t>
            </a:r>
            <a:r>
              <a:rPr lang="ko-KR" altLang="en-US" sz="800" dirty="0" err="1">
                <a:solidFill>
                  <a:schemeClr val="bg1">
                    <a:lumMod val="50000"/>
                  </a:schemeClr>
                </a:solidFill>
              </a:rPr>
              <a:t>센서값을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</a:rPr>
              <a:t> 읽기 위해 시리얼 모니터를 </a:t>
            </a:r>
            <a:r>
              <a:rPr lang="ko-KR" altLang="en-US" sz="800" dirty="0" err="1">
                <a:solidFill>
                  <a:schemeClr val="bg1">
                    <a:lumMod val="50000"/>
                  </a:schemeClr>
                </a:solidFill>
              </a:rPr>
              <a:t>사용할것을설정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. </a:t>
            </a:r>
          </a:p>
          <a:p>
            <a:pPr marL="457200" rtl="0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} </a:t>
            </a:r>
          </a:p>
          <a:p>
            <a:pPr marL="457200" rtl="0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void loop() </a:t>
            </a:r>
          </a:p>
          <a:p>
            <a:pPr marL="457200" rtl="0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{ </a:t>
            </a:r>
          </a:p>
          <a:p>
            <a:pPr marL="457200" rtl="0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int </a:t>
            </a:r>
            <a:r>
              <a:rPr lang="en-US" altLang="ko-KR" sz="800" dirty="0" err="1">
                <a:solidFill>
                  <a:schemeClr val="bg1">
                    <a:lumMod val="50000"/>
                  </a:schemeClr>
                </a:solidFill>
              </a:rPr>
              <a:t>FlexVal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; // </a:t>
            </a:r>
            <a:r>
              <a:rPr lang="ko-KR" altLang="en-US" sz="800" dirty="0" err="1">
                <a:solidFill>
                  <a:schemeClr val="bg1">
                    <a:lumMod val="50000"/>
                  </a:schemeClr>
                </a:solidFill>
              </a:rPr>
              <a:t>센서값을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</a:rPr>
              <a:t> 저장할 변수</a:t>
            </a:r>
            <a:endParaRPr lang="en-US" altLang="ko-KR" sz="800" dirty="0">
              <a:solidFill>
                <a:schemeClr val="bg1">
                  <a:lumMod val="50000"/>
                </a:schemeClr>
              </a:solidFill>
            </a:endParaRPr>
          </a:p>
          <a:p>
            <a:pPr marL="457200" rtl="0"/>
            <a:r>
              <a:rPr lang="en-US" altLang="ko-KR" sz="800" dirty="0" err="1">
                <a:solidFill>
                  <a:schemeClr val="bg1">
                    <a:lumMod val="50000"/>
                  </a:schemeClr>
                </a:solidFill>
              </a:rPr>
              <a:t>FlexVal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 = </a:t>
            </a:r>
            <a:r>
              <a:rPr lang="en-US" altLang="ko-KR" sz="800" dirty="0" err="1">
                <a:solidFill>
                  <a:schemeClr val="bg1">
                    <a:lumMod val="50000"/>
                  </a:schemeClr>
                </a:solidFill>
              </a:rPr>
              <a:t>analogRead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en-US" altLang="ko-KR" sz="800" dirty="0" err="1">
                <a:solidFill>
                  <a:schemeClr val="bg1">
                    <a:lumMod val="50000"/>
                  </a:schemeClr>
                </a:solidFill>
              </a:rPr>
              <a:t>FlexPin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); // 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</a:rPr>
              <a:t>아날로그를 입력 받음 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(0~1023) </a:t>
            </a:r>
            <a:r>
              <a:rPr lang="en-US" altLang="ko-KR" sz="800" dirty="0" err="1">
                <a:solidFill>
                  <a:schemeClr val="bg1">
                    <a:lumMod val="50000"/>
                  </a:schemeClr>
                </a:solidFill>
              </a:rPr>
              <a:t>Serial.print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("sensor: "); // sensor: 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</a:rPr>
              <a:t>라는 텍스트를 프린트한다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. </a:t>
            </a:r>
            <a:r>
              <a:rPr lang="en-US" altLang="ko-KR" sz="800" dirty="0" err="1">
                <a:solidFill>
                  <a:schemeClr val="bg1">
                    <a:lumMod val="50000"/>
                  </a:schemeClr>
                </a:solidFill>
              </a:rPr>
              <a:t>Serial.println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en-US" altLang="ko-KR" sz="800" dirty="0" err="1">
                <a:solidFill>
                  <a:schemeClr val="bg1">
                    <a:lumMod val="50000"/>
                  </a:schemeClr>
                </a:solidFill>
              </a:rPr>
              <a:t>FlexVal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); // </a:t>
            </a:r>
            <a:r>
              <a:rPr lang="en-US" altLang="ko-KR" sz="800" dirty="0" err="1">
                <a:solidFill>
                  <a:schemeClr val="bg1">
                    <a:lumMod val="50000"/>
                  </a:schemeClr>
                </a:solidFill>
              </a:rPr>
              <a:t>println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</a:rPr>
              <a:t>은 </a:t>
            </a:r>
            <a:r>
              <a:rPr lang="ko-KR" altLang="en-US" sz="800" dirty="0" err="1">
                <a:solidFill>
                  <a:schemeClr val="bg1">
                    <a:lumMod val="50000"/>
                  </a:schemeClr>
                </a:solidFill>
              </a:rPr>
              <a:t>줄바꿈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</a:rPr>
              <a:t> 명령이다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. </a:t>
            </a:r>
            <a:r>
              <a:rPr lang="en-US" altLang="ko-KR" sz="800" dirty="0" err="1">
                <a:solidFill>
                  <a:schemeClr val="bg1">
                    <a:lumMod val="50000"/>
                  </a:schemeClr>
                </a:solidFill>
              </a:rPr>
              <a:t>flexVal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</a:rPr>
              <a:t>의 값을 출력한다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. delay(500); </a:t>
            </a:r>
          </a:p>
          <a:p>
            <a:pPr marL="457200" rtl="0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}</a:t>
            </a:r>
            <a:b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</a:br>
            <a:endParaRPr lang="en-US" altLang="ko-KR" sz="800" b="1" dirty="0">
              <a:solidFill>
                <a:schemeClr val="bg1">
                  <a:lumMod val="50000"/>
                </a:schemeClr>
              </a:solidFill>
              <a:latin typeface="KoPubWorld돋움체_Pro Medium"/>
              <a:ea typeface="KoPubWorld돋움체_Pro Medium"/>
              <a:cs typeface="KoPubWorld돋움체_Pro Medium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396ED07-BF1B-6A4D-3083-0EF4824FCCA3}"/>
              </a:ext>
            </a:extLst>
          </p:cNvPr>
          <p:cNvSpPr/>
          <p:nvPr/>
        </p:nvSpPr>
        <p:spPr>
          <a:xfrm>
            <a:off x="328190" y="5540111"/>
            <a:ext cx="4173053" cy="4177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rtl="0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en-US" altLang="ko-KR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PWM </a:t>
            </a:r>
            <a:r>
              <a:rPr lang="ko-KR" altLang="en-US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신호의 </a:t>
            </a:r>
            <a:r>
              <a:rPr lang="en-US" altLang="ko-KR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Duty Cycle </a:t>
            </a:r>
            <a:r>
              <a:rPr lang="ko-KR" altLang="en-US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조절하여 모터 속도 제어</a:t>
            </a:r>
            <a:endParaRPr lang="en-US" altLang="ko-KR" sz="1600" dirty="0">
              <a:latin typeface="프리젠테이션 5 Medium" pitchFamily="2" charset="-127"/>
              <a:ea typeface="프리젠테이션 5 Medium" pitchFamily="2" charset="-127"/>
              <a:cs typeface="KoPubWorld돋움체_Pro Medium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77BA35B-5E1A-1925-7400-00F75A1AFEA3}"/>
              </a:ext>
            </a:extLst>
          </p:cNvPr>
          <p:cNvSpPr/>
          <p:nvPr/>
        </p:nvSpPr>
        <p:spPr>
          <a:xfrm>
            <a:off x="4780447" y="3534302"/>
            <a:ext cx="4173053" cy="7870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rtl="0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ko-KR" altLang="en-US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압력센서의 물리적 변화 </a:t>
            </a:r>
            <a:r>
              <a:rPr lang="en-US" altLang="ko-KR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-&gt; </a:t>
            </a:r>
            <a:r>
              <a:rPr lang="ko-KR" altLang="en-US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저항 변화 </a:t>
            </a:r>
            <a:r>
              <a:rPr lang="en-US" altLang="ko-KR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-&gt; </a:t>
            </a:r>
            <a:r>
              <a:rPr lang="ko-KR" altLang="en-US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전압 변화</a:t>
            </a:r>
            <a:br>
              <a:rPr lang="en-US" altLang="ko-KR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</a:br>
            <a:r>
              <a:rPr lang="ko-KR" altLang="en-US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이를 </a:t>
            </a:r>
            <a:r>
              <a:rPr lang="en-US" altLang="ko-KR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ADC</a:t>
            </a:r>
            <a:r>
              <a:rPr lang="ko-KR" altLang="en-US" sz="1600" dirty="0">
                <a:latin typeface="프리젠테이션 5 Medium" pitchFamily="2" charset="-127"/>
                <a:ea typeface="프리젠테이션 5 Medium" pitchFamily="2" charset="-127"/>
                <a:cs typeface="KoPubWorld돋움체_Pro Medium"/>
              </a:rPr>
              <a:t>로 읽음</a:t>
            </a:r>
            <a:endParaRPr lang="en-US" altLang="ko-KR" sz="1600" dirty="0">
              <a:latin typeface="프리젠테이션 5 Medium" pitchFamily="2" charset="-127"/>
              <a:ea typeface="프리젠테이션 5 Medium" pitchFamily="2" charset="-127"/>
              <a:cs typeface="KoPubWorld돋움체_Pro Medium"/>
            </a:endParaRPr>
          </a:p>
        </p:txBody>
      </p:sp>
    </p:spTree>
    <p:extLst>
      <p:ext uri="{BB962C8B-B14F-4D97-AF65-F5344CB8AC3E}">
        <p14:creationId xmlns:p14="http://schemas.microsoft.com/office/powerpoint/2010/main" val="2014394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FFA60-5BD5-2D95-436B-F25A0585D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5D8BBB3-4E4F-1611-DB3E-4509D98F4803}"/>
              </a:ext>
            </a:extLst>
          </p:cNvPr>
          <p:cNvSpPr/>
          <p:nvPr/>
        </p:nvSpPr>
        <p:spPr>
          <a:xfrm>
            <a:off x="328190" y="738698"/>
            <a:ext cx="8496944" cy="45719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7CF0FC20-B57E-F62D-D357-EF6466A43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54338" y="419292"/>
            <a:ext cx="372420" cy="365125"/>
          </a:xfrm>
        </p:spPr>
        <p:txBody>
          <a:bodyPr/>
          <a:lstStyle/>
          <a:p>
            <a:pPr lvl="0">
              <a:defRPr/>
            </a:pPr>
            <a:fld id="{1E33FF7C-8566-45B7-B9A1-9079E74E4723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B7FC3C1-6B88-7611-A6AC-AD4554957BE2}"/>
              </a:ext>
            </a:extLst>
          </p:cNvPr>
          <p:cNvSpPr/>
          <p:nvPr/>
        </p:nvSpPr>
        <p:spPr>
          <a:xfrm>
            <a:off x="273226" y="234906"/>
            <a:ext cx="8379374" cy="5037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ko-KR" altLang="en-US" sz="2000" b="1" dirty="0">
                <a:solidFill>
                  <a:srgbClr val="004C86"/>
                </a:solidFill>
                <a:latin typeface="프리젠테이션 7 Bold" pitchFamily="2" charset="-127"/>
                <a:ea typeface="프리젠테이션 7 Bold" pitchFamily="2" charset="-127"/>
                <a:cs typeface="KoPubWorld돋움체_Pro Medium"/>
              </a:rPr>
              <a:t>배선도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B3B8EDA-6AC7-1AF7-024F-7F18BC56F325}"/>
              </a:ext>
            </a:extLst>
          </p:cNvPr>
          <p:cNvSpPr/>
          <p:nvPr/>
        </p:nvSpPr>
        <p:spPr>
          <a:xfrm>
            <a:off x="289200" y="6538181"/>
            <a:ext cx="5434928" cy="165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100" b="1" dirty="0">
                <a:solidFill>
                  <a:srgbClr val="004C86"/>
                </a:solidFill>
              </a:rPr>
              <a:t>2025</a:t>
            </a:r>
            <a:r>
              <a:rPr lang="ko-KR" altLang="en-US" sz="1100" b="1" dirty="0">
                <a:solidFill>
                  <a:srgbClr val="004C86"/>
                </a:solidFill>
              </a:rPr>
              <a:t>년 </a:t>
            </a:r>
            <a:r>
              <a:rPr lang="en-US" altLang="ko-KR" sz="1100" b="1" dirty="0">
                <a:solidFill>
                  <a:srgbClr val="004C86"/>
                </a:solidFill>
              </a:rPr>
              <a:t>baqu4 </a:t>
            </a:r>
            <a:r>
              <a:rPr lang="ko-KR" altLang="en-US" sz="1100" b="1" dirty="0">
                <a:solidFill>
                  <a:srgbClr val="004C86"/>
                </a:solidFill>
              </a:rPr>
              <a:t>자율주행 정기회의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A4DA96AE-F92E-3CF0-6A7F-C7D41E16F2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830" y="2044179"/>
            <a:ext cx="2327223" cy="2778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A6F1E656-BA7A-0F1A-809F-F6EFEB005E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716"/>
          <a:stretch/>
        </p:blipFill>
        <p:spPr bwMode="auto">
          <a:xfrm>
            <a:off x="2822197" y="2226325"/>
            <a:ext cx="2988627" cy="2549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>
            <a:extLst>
              <a:ext uri="{FF2B5EF4-FFF2-40B4-BE49-F238E27FC236}">
                <a16:creationId xmlns:a16="http://schemas.microsoft.com/office/drawing/2014/main" id="{E47D4A29-C445-14FB-2C4E-052EF52644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6145" y="2226325"/>
            <a:ext cx="2847975" cy="600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DB73935-1865-B490-1209-2D21E55406F1}"/>
              </a:ext>
            </a:extLst>
          </p:cNvPr>
          <p:cNvSpPr txBox="1"/>
          <p:nvPr/>
        </p:nvSpPr>
        <p:spPr>
          <a:xfrm>
            <a:off x="213830" y="1438378"/>
            <a:ext cx="1081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>
                <a:latin typeface="프리젠테이션 6 SemiBold" pitchFamily="2" charset="-127"/>
                <a:ea typeface="프리젠테이션 6 SemiBold" pitchFamily="2" charset="-127"/>
              </a:rPr>
              <a:t>모터</a:t>
            </a:r>
            <a:endParaRPr lang="ko-KR" altLang="en-US" dirty="0"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299AAA-3D98-C146-051E-1F7B24EE97B3}"/>
              </a:ext>
            </a:extLst>
          </p:cNvPr>
          <p:cNvSpPr txBox="1"/>
          <p:nvPr/>
        </p:nvSpPr>
        <p:spPr>
          <a:xfrm>
            <a:off x="2717544" y="1438378"/>
            <a:ext cx="1331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>
                <a:latin typeface="프리젠테이션 6 SemiBold" pitchFamily="2" charset="-127"/>
                <a:ea typeface="프리젠테이션 6 SemiBold" pitchFamily="2" charset="-127"/>
              </a:rPr>
              <a:t>압력 센서</a:t>
            </a:r>
            <a:endParaRPr lang="ko-KR" altLang="en-US" dirty="0"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A111E1-B5EE-C847-E02F-414737A96649}"/>
              </a:ext>
            </a:extLst>
          </p:cNvPr>
          <p:cNvSpPr txBox="1"/>
          <p:nvPr/>
        </p:nvSpPr>
        <p:spPr>
          <a:xfrm>
            <a:off x="5917944" y="1435774"/>
            <a:ext cx="1331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dirty="0">
                <a:latin typeface="프리젠테이션 6 SemiBold" pitchFamily="2" charset="-127"/>
                <a:ea typeface="프리젠테이션 6 SemiBold" pitchFamily="2" charset="-127"/>
              </a:rPr>
              <a:t>IGBT</a:t>
            </a:r>
            <a:endParaRPr lang="ko-KR" altLang="en-US" dirty="0">
              <a:latin typeface="프리젠테이션 6 SemiBold" pitchFamily="2" charset="-127"/>
              <a:ea typeface="프리젠테이션 6 Semi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38457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D7EA0-848B-7F16-479A-B3F7083C9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3B668B1-1E90-EF14-CDB0-854FB711EBE8}"/>
              </a:ext>
            </a:extLst>
          </p:cNvPr>
          <p:cNvSpPr/>
          <p:nvPr/>
        </p:nvSpPr>
        <p:spPr>
          <a:xfrm>
            <a:off x="328190" y="738698"/>
            <a:ext cx="8496944" cy="45719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FB81D2E9-C861-5B45-B43C-4675CBF36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54338" y="419292"/>
            <a:ext cx="372420" cy="365125"/>
          </a:xfrm>
        </p:spPr>
        <p:txBody>
          <a:bodyPr/>
          <a:lstStyle/>
          <a:p>
            <a:pPr lvl="0">
              <a:defRPr/>
            </a:pPr>
            <a:fld id="{1E33FF7C-8566-45B7-B9A1-9079E74E4723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E613A1B-C8EA-CE9E-67FE-3D926DFE1E70}"/>
              </a:ext>
            </a:extLst>
          </p:cNvPr>
          <p:cNvSpPr/>
          <p:nvPr/>
        </p:nvSpPr>
        <p:spPr>
          <a:xfrm>
            <a:off x="273226" y="234906"/>
            <a:ext cx="8379374" cy="5037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ko-KR" altLang="en-US" sz="2000" b="1" dirty="0">
                <a:solidFill>
                  <a:srgbClr val="004C86"/>
                </a:solidFill>
                <a:latin typeface="프리젠테이션 7 Bold" pitchFamily="2" charset="-127"/>
                <a:ea typeface="프리젠테이션 7 Bold" pitchFamily="2" charset="-127"/>
                <a:cs typeface="KoPubWorld돋움체_Pro Medium"/>
              </a:rPr>
              <a:t>고려할 점 </a:t>
            </a:r>
            <a:r>
              <a:rPr lang="en-US" altLang="ko-KR" sz="2000" b="1" dirty="0">
                <a:solidFill>
                  <a:srgbClr val="004C86"/>
                </a:solidFill>
                <a:latin typeface="프리젠테이션 7 Bold" pitchFamily="2" charset="-127"/>
                <a:ea typeface="프리젠테이션 7 Bold" pitchFamily="2" charset="-127"/>
                <a:cs typeface="KoPubWorld돋움체_Pro Medium"/>
              </a:rPr>
              <a:t>/ </a:t>
            </a:r>
            <a:r>
              <a:rPr lang="ko-KR" altLang="en-US" sz="2000" b="1" dirty="0">
                <a:solidFill>
                  <a:srgbClr val="004C86"/>
                </a:solidFill>
                <a:latin typeface="프리젠테이션 7 Bold" pitchFamily="2" charset="-127"/>
                <a:ea typeface="프리젠테이션 7 Bold" pitchFamily="2" charset="-127"/>
                <a:cs typeface="KoPubWorld돋움체_Pro Medium"/>
              </a:rPr>
              <a:t>우려사항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A787D30-5AF2-B3F8-4879-0771D5C769D3}"/>
              </a:ext>
            </a:extLst>
          </p:cNvPr>
          <p:cNvSpPr/>
          <p:nvPr/>
        </p:nvSpPr>
        <p:spPr>
          <a:xfrm>
            <a:off x="289200" y="6538181"/>
            <a:ext cx="5434928" cy="165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100" b="1" dirty="0">
                <a:solidFill>
                  <a:srgbClr val="004C86"/>
                </a:solidFill>
              </a:rPr>
              <a:t>2025</a:t>
            </a:r>
            <a:r>
              <a:rPr lang="ko-KR" altLang="en-US" sz="1100" b="1" dirty="0">
                <a:solidFill>
                  <a:srgbClr val="004C86"/>
                </a:solidFill>
              </a:rPr>
              <a:t>년 </a:t>
            </a:r>
            <a:r>
              <a:rPr lang="en-US" altLang="ko-KR" sz="1100" b="1" dirty="0">
                <a:solidFill>
                  <a:srgbClr val="004C86"/>
                </a:solidFill>
              </a:rPr>
              <a:t>baqu4 </a:t>
            </a:r>
            <a:r>
              <a:rPr lang="ko-KR" altLang="en-US" sz="1100" b="1" dirty="0">
                <a:solidFill>
                  <a:srgbClr val="004C86"/>
                </a:solidFill>
              </a:rPr>
              <a:t>자율주행 정기회의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55F04BD-0FA1-8798-61DA-64D64A417B76}"/>
              </a:ext>
            </a:extLst>
          </p:cNvPr>
          <p:cNvSpPr/>
          <p:nvPr/>
        </p:nvSpPr>
        <p:spPr>
          <a:xfrm>
            <a:off x="384480" y="1103823"/>
            <a:ext cx="12919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b="1" i="0" u="none" strike="noStrike" dirty="0">
                <a:solidFill>
                  <a:srgbClr val="000000"/>
                </a:solidFill>
                <a:effectLst/>
                <a:latin typeface="프리젠테이션 6 SemiBold" pitchFamily="2" charset="-127"/>
                <a:ea typeface="프리젠테이션 6 SemiBold" pitchFamily="2" charset="-127"/>
              </a:rPr>
              <a:t>부착위치</a:t>
            </a:r>
            <a:endParaRPr lang="en-US" altLang="ko-KR" b="1" dirty="0">
              <a:latin typeface="프리젠테이션 6 SemiBold" pitchFamily="2" charset="-127"/>
              <a:ea typeface="프리젠테이션 6 SemiBold" pitchFamily="2" charset="-127"/>
              <a:cs typeface="KoPubWorld돋움체_Pro Medium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20663F2-E948-44A8-46AA-3ADB754AEF05}"/>
              </a:ext>
            </a:extLst>
          </p:cNvPr>
          <p:cNvSpPr/>
          <p:nvPr/>
        </p:nvSpPr>
        <p:spPr>
          <a:xfrm>
            <a:off x="384480" y="3692951"/>
            <a:ext cx="23587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b="1" dirty="0">
                <a:solidFill>
                  <a:srgbClr val="000000"/>
                </a:solidFill>
                <a:latin typeface="프리젠테이션 6 SemiBold" pitchFamily="2" charset="-127"/>
                <a:ea typeface="프리젠테이션 6 SemiBold" pitchFamily="2" charset="-127"/>
              </a:rPr>
              <a:t>압력센서의 추가 저항 값</a:t>
            </a:r>
            <a:endParaRPr lang="en-US" altLang="ko-KR" b="1" dirty="0">
              <a:latin typeface="프리젠테이션 6 SemiBold" pitchFamily="2" charset="-127"/>
              <a:ea typeface="프리젠테이션 6 SemiBold" pitchFamily="2" charset="-127"/>
              <a:cs typeface="KoPubWorld돋움체_Pro Medium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252A0767-9DEE-4CC2-878B-F2A56B8D74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866"/>
          <a:stretch/>
        </p:blipFill>
        <p:spPr bwMode="auto">
          <a:xfrm>
            <a:off x="1228561" y="1511984"/>
            <a:ext cx="1783694" cy="1858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7F90B8E2-60D4-E849-B968-3998915E5B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52"/>
          <a:stretch/>
        </p:blipFill>
        <p:spPr bwMode="auto">
          <a:xfrm>
            <a:off x="3651376" y="1511984"/>
            <a:ext cx="1584654" cy="1858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5D7C3C96-31BC-C676-75C5-6FB400E1C09A}"/>
              </a:ext>
            </a:extLst>
          </p:cNvPr>
          <p:cNvSpPr/>
          <p:nvPr/>
        </p:nvSpPr>
        <p:spPr>
          <a:xfrm>
            <a:off x="1986213" y="1200024"/>
            <a:ext cx="616690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300" b="1" i="0" u="none" strike="noStrike" dirty="0">
                <a:solidFill>
                  <a:srgbClr val="000000"/>
                </a:solidFill>
                <a:effectLst/>
                <a:latin typeface="KoPubWorld돋움체_Pro Medium"/>
              </a:rPr>
              <a:t>1</a:t>
            </a:r>
            <a:r>
              <a:rPr lang="ko-KR" altLang="en-US" sz="1300" b="1" i="0" u="none" strike="noStrike" dirty="0">
                <a:solidFill>
                  <a:srgbClr val="000000"/>
                </a:solidFill>
                <a:effectLst/>
                <a:latin typeface="KoPubWorld돋움체_Pro Medium"/>
              </a:rPr>
              <a:t>안</a:t>
            </a:r>
            <a:endParaRPr lang="en-US" altLang="ko-KR" sz="1300" b="1" dirty="0">
              <a:latin typeface="KoPubWorld돋움체_Pro Medium"/>
              <a:ea typeface="KoPubWorld돋움체_Pro Medium"/>
              <a:cs typeface="KoPubWorld돋움체_Pro Medium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0246D40-7284-BA26-2A15-5C68DBF005A3}"/>
              </a:ext>
            </a:extLst>
          </p:cNvPr>
          <p:cNvSpPr/>
          <p:nvPr/>
        </p:nvSpPr>
        <p:spPr>
          <a:xfrm>
            <a:off x="4251043" y="1200024"/>
            <a:ext cx="616690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300" b="1" dirty="0">
                <a:solidFill>
                  <a:srgbClr val="000000"/>
                </a:solidFill>
                <a:latin typeface="KoPubWorld돋움체_Pro Medium"/>
              </a:rPr>
              <a:t>2</a:t>
            </a:r>
            <a:r>
              <a:rPr lang="ko-KR" altLang="en-US" sz="1300" b="1" i="0" u="none" strike="noStrike" dirty="0">
                <a:solidFill>
                  <a:srgbClr val="000000"/>
                </a:solidFill>
                <a:effectLst/>
                <a:latin typeface="KoPubWorld돋움체_Pro Medium"/>
              </a:rPr>
              <a:t>안</a:t>
            </a:r>
            <a:endParaRPr lang="en-US" altLang="ko-KR" sz="1300" b="1" dirty="0">
              <a:latin typeface="KoPubWorld돋움체_Pro Medium"/>
              <a:ea typeface="KoPubWorld돋움체_Pro Medium"/>
              <a:cs typeface="KoPubWorld돋움체_Pro Medium"/>
            </a:endParaRPr>
          </a:p>
        </p:txBody>
      </p:sp>
      <p:pic>
        <p:nvPicPr>
          <p:cNvPr id="3078" name="Picture 6">
            <a:extLst>
              <a:ext uri="{FF2B5EF4-FFF2-40B4-BE49-F238E27FC236}">
                <a16:creationId xmlns:a16="http://schemas.microsoft.com/office/drawing/2014/main" id="{70B61913-61E7-12D9-2BF8-21C3E89CD2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8560" y="4179207"/>
            <a:ext cx="3444903" cy="224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8C16D847-3942-6CD9-2C81-85E07640951F}"/>
              </a:ext>
            </a:extLst>
          </p:cNvPr>
          <p:cNvSpPr/>
          <p:nvPr/>
        </p:nvSpPr>
        <p:spPr>
          <a:xfrm>
            <a:off x="2743200" y="5241471"/>
            <a:ext cx="674914" cy="5279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686CAD-4BE1-60DA-5565-F2D9C9E36B2F}"/>
              </a:ext>
            </a:extLst>
          </p:cNvPr>
          <p:cNvSpPr txBox="1"/>
          <p:nvPr/>
        </p:nvSpPr>
        <p:spPr>
          <a:xfrm>
            <a:off x="5036168" y="4267200"/>
            <a:ext cx="28792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프리젠테이션 4 Regular" pitchFamily="2" charset="-127"/>
                <a:ea typeface="프리젠테이션 4 Regular" pitchFamily="2" charset="-127"/>
              </a:rPr>
              <a:t>추가된 </a:t>
            </a:r>
            <a:r>
              <a:rPr lang="ko-KR" altLang="en-US" b="1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저항에 따라</a:t>
            </a:r>
            <a:endParaRPr lang="en-US" altLang="ko-KR" b="1" dirty="0">
              <a:solidFill>
                <a:srgbClr val="FF0000"/>
              </a:solidFill>
              <a:latin typeface="프리젠테이션 4 Regular" pitchFamily="2" charset="-127"/>
              <a:ea typeface="프리젠테이션 4 Regular" pitchFamily="2" charset="-127"/>
            </a:endParaRPr>
          </a:p>
          <a:p>
            <a:r>
              <a:rPr lang="en-US" altLang="ko-KR" dirty="0">
                <a:latin typeface="프리젠테이션 4 Regular" pitchFamily="2" charset="-127"/>
                <a:ea typeface="프리젠테이션 4 Regular" pitchFamily="2" charset="-127"/>
              </a:rPr>
              <a:t>ADC</a:t>
            </a:r>
            <a:r>
              <a:rPr lang="ko-KR" altLang="en-US" dirty="0">
                <a:latin typeface="프리젠테이션 4 Regular" pitchFamily="2" charset="-127"/>
                <a:ea typeface="프리젠테이션 4 Regular" pitchFamily="2" charset="-127"/>
              </a:rPr>
              <a:t>로 읽는 전압 </a:t>
            </a:r>
            <a:r>
              <a:rPr lang="ko-KR" altLang="en-US" b="1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값의 범위가 바뀜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A37F362-89AE-27AE-3442-C4314B2EBD61}"/>
              </a:ext>
            </a:extLst>
          </p:cNvPr>
          <p:cNvSpPr/>
          <p:nvPr/>
        </p:nvSpPr>
        <p:spPr>
          <a:xfrm>
            <a:off x="5036168" y="5137144"/>
            <a:ext cx="4173053" cy="4177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rtl="0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ko-KR" altLang="en-US" sz="1600" dirty="0">
                <a:latin typeface="프리젠테이션 4 Regular" pitchFamily="2" charset="-127"/>
                <a:ea typeface="프리젠테이션 4 Regular" pitchFamily="2" charset="-127"/>
                <a:cs typeface="KoPubWorld돋움체_Pro Medium"/>
              </a:rPr>
              <a:t>저항 값 조절하여 센서의 민감도 조절 가능</a:t>
            </a:r>
            <a:endParaRPr lang="en-US" altLang="ko-KR" sz="1600" dirty="0">
              <a:latin typeface="프리젠테이션 4 Regular" pitchFamily="2" charset="-127"/>
              <a:ea typeface="프리젠테이션 4 Regular" pitchFamily="2" charset="-127"/>
              <a:cs typeface="KoPubWorld돋움체_Pro Medium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70B0EAC-F725-0984-4A77-7F265DCBDA45}"/>
              </a:ext>
            </a:extLst>
          </p:cNvPr>
          <p:cNvSpPr/>
          <p:nvPr/>
        </p:nvSpPr>
        <p:spPr>
          <a:xfrm rot="20365663">
            <a:off x="6450903" y="1148470"/>
            <a:ext cx="302976" cy="21541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FD8C65-36A5-0E84-2482-D890E79380A7}"/>
              </a:ext>
            </a:extLst>
          </p:cNvPr>
          <p:cNvSpPr txBox="1"/>
          <p:nvPr/>
        </p:nvSpPr>
        <p:spPr>
          <a:xfrm>
            <a:off x="6536527" y="1172073"/>
            <a:ext cx="10078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latin typeface="프리젠테이션 4 Regular" pitchFamily="2" charset="-127"/>
                <a:ea typeface="프리젠테이션 4 Regular" pitchFamily="2" charset="-127"/>
              </a:rPr>
              <a:t>브레이크 페달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ECFF00D-89F5-139F-1706-DDA91A2949EC}"/>
              </a:ext>
            </a:extLst>
          </p:cNvPr>
          <p:cNvSpPr txBox="1"/>
          <p:nvPr/>
        </p:nvSpPr>
        <p:spPr>
          <a:xfrm>
            <a:off x="7197626" y="2296820"/>
            <a:ext cx="11836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프리젠테이션 4 Regular" pitchFamily="2" charset="-127"/>
                <a:ea typeface="프리젠테이션 4 Regular" pitchFamily="2" charset="-127"/>
              </a:rPr>
              <a:t>DC Actuator</a:t>
            </a:r>
            <a:endParaRPr lang="ko-KR" altLang="en-US" sz="1400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0F05010F-9FA0-FE8B-6D57-086A8EC07017}"/>
              </a:ext>
            </a:extLst>
          </p:cNvPr>
          <p:cNvSpPr/>
          <p:nvPr/>
        </p:nvSpPr>
        <p:spPr>
          <a:xfrm>
            <a:off x="8292496" y="2619399"/>
            <a:ext cx="308558" cy="181651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4EE4478-E861-C827-B7BD-ED6081050878}"/>
              </a:ext>
            </a:extLst>
          </p:cNvPr>
          <p:cNvSpPr txBox="1"/>
          <p:nvPr/>
        </p:nvSpPr>
        <p:spPr>
          <a:xfrm>
            <a:off x="5576931" y="1009250"/>
            <a:ext cx="6949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Push</a:t>
            </a:r>
            <a:endParaRPr lang="ko-KR" altLang="en-US" sz="1400" b="1" dirty="0">
              <a:solidFill>
                <a:srgbClr val="FF0000"/>
              </a:solidFill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22" name="화살표: 오른쪽 21">
            <a:extLst>
              <a:ext uri="{FF2B5EF4-FFF2-40B4-BE49-F238E27FC236}">
                <a16:creationId xmlns:a16="http://schemas.microsoft.com/office/drawing/2014/main" id="{C5F6C1B4-DC26-346B-2767-2285A2962F22}"/>
              </a:ext>
            </a:extLst>
          </p:cNvPr>
          <p:cNvSpPr/>
          <p:nvPr/>
        </p:nvSpPr>
        <p:spPr>
          <a:xfrm flipH="1">
            <a:off x="5784969" y="1353725"/>
            <a:ext cx="255963" cy="141277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01FB4F8-B4D2-7F27-29B0-E19C2171F835}"/>
              </a:ext>
            </a:extLst>
          </p:cNvPr>
          <p:cNvSpPr txBox="1"/>
          <p:nvPr/>
        </p:nvSpPr>
        <p:spPr>
          <a:xfrm>
            <a:off x="8172645" y="2405990"/>
            <a:ext cx="6949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PULL</a:t>
            </a:r>
            <a:endParaRPr lang="ko-KR" altLang="en-US" sz="1400" b="1" dirty="0">
              <a:solidFill>
                <a:srgbClr val="FF0000"/>
              </a:solidFill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E66967B-09DC-681D-947D-62785B9E53AB}"/>
              </a:ext>
            </a:extLst>
          </p:cNvPr>
          <p:cNvSpPr/>
          <p:nvPr/>
        </p:nvSpPr>
        <p:spPr>
          <a:xfrm rot="16200000">
            <a:off x="7374231" y="2186237"/>
            <a:ext cx="302976" cy="215067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5" name="잉크 24">
                <a:extLst>
                  <a:ext uri="{FF2B5EF4-FFF2-40B4-BE49-F238E27FC236}">
                    <a16:creationId xmlns:a16="http://schemas.microsoft.com/office/drawing/2014/main" id="{1B94E7D2-A377-BDA2-3FD8-3EF3D2072D6F}"/>
                  </a:ext>
                </a:extLst>
              </p14:cNvPr>
              <p14:cNvContentPartPr/>
              <p14:nvPr/>
            </p14:nvContentPartPr>
            <p14:xfrm rot="18883852">
              <a:off x="7233674" y="2729369"/>
              <a:ext cx="690713" cy="690713"/>
            </p14:xfrm>
          </p:contentPart>
        </mc:Choice>
        <mc:Fallback xmlns="">
          <p:pic>
            <p:nvPicPr>
              <p:cNvPr id="25" name="잉크 24">
                <a:extLst>
                  <a:ext uri="{FF2B5EF4-FFF2-40B4-BE49-F238E27FC236}">
                    <a16:creationId xmlns:a16="http://schemas.microsoft.com/office/drawing/2014/main" id="{1B94E7D2-A377-BDA2-3FD8-3EF3D2072D6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 rot="18883852">
                <a:off x="7179684" y="2621389"/>
                <a:ext cx="798333" cy="9063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6" name="잉크 25">
                <a:extLst>
                  <a:ext uri="{FF2B5EF4-FFF2-40B4-BE49-F238E27FC236}">
                    <a16:creationId xmlns:a16="http://schemas.microsoft.com/office/drawing/2014/main" id="{0C8F71A6-03A2-C13D-7764-75A18332049B}"/>
                  </a:ext>
                </a:extLst>
              </p14:cNvPr>
              <p14:cNvContentPartPr/>
              <p14:nvPr/>
            </p14:nvContentPartPr>
            <p14:xfrm rot="1600522">
              <a:off x="6575997" y="2285038"/>
              <a:ext cx="690713" cy="690713"/>
            </p14:xfrm>
          </p:contentPart>
        </mc:Choice>
        <mc:Fallback xmlns="">
          <p:pic>
            <p:nvPicPr>
              <p:cNvPr id="26" name="잉크 25">
                <a:extLst>
                  <a:ext uri="{FF2B5EF4-FFF2-40B4-BE49-F238E27FC236}">
                    <a16:creationId xmlns:a16="http://schemas.microsoft.com/office/drawing/2014/main" id="{0C8F71A6-03A2-C13D-7764-75A18332049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 rot="1600522">
                <a:off x="6522007" y="2177058"/>
                <a:ext cx="798333" cy="906313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직사각형 15">
            <a:extLst>
              <a:ext uri="{FF2B5EF4-FFF2-40B4-BE49-F238E27FC236}">
                <a16:creationId xmlns:a16="http://schemas.microsoft.com/office/drawing/2014/main" id="{5E81B9F2-0C65-E6D3-0FB9-4D8A4B98BDC8}"/>
              </a:ext>
            </a:extLst>
          </p:cNvPr>
          <p:cNvSpPr/>
          <p:nvPr/>
        </p:nvSpPr>
        <p:spPr>
          <a:xfrm>
            <a:off x="6713959" y="2605225"/>
            <a:ext cx="1458686" cy="210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BF4A2D3A-7F78-29D0-3ECE-F57DD2F59650}"/>
              </a:ext>
            </a:extLst>
          </p:cNvPr>
          <p:cNvSpPr/>
          <p:nvPr/>
        </p:nvSpPr>
        <p:spPr>
          <a:xfrm>
            <a:off x="6768954" y="2633574"/>
            <a:ext cx="152400" cy="15330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2EAB1A7-1876-28C9-8B1A-E6E61D5C8BDF}"/>
              </a:ext>
            </a:extLst>
          </p:cNvPr>
          <p:cNvSpPr txBox="1"/>
          <p:nvPr/>
        </p:nvSpPr>
        <p:spPr>
          <a:xfrm>
            <a:off x="6883814" y="3537334"/>
            <a:ext cx="1183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프리젠테이션 6 SemiBold" pitchFamily="2" charset="-127"/>
                <a:ea typeface="프리젠테이션 6 SemiBold" pitchFamily="2" charset="-127"/>
              </a:rPr>
              <a:t>측면도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67E861-B367-FDB4-6085-E0C15656390C}"/>
              </a:ext>
            </a:extLst>
          </p:cNvPr>
          <p:cNvSpPr txBox="1"/>
          <p:nvPr/>
        </p:nvSpPr>
        <p:spPr>
          <a:xfrm>
            <a:off x="6741725" y="1807216"/>
            <a:ext cx="11836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latin typeface="프리젠테이션 4 Regular" pitchFamily="2" charset="-127"/>
                <a:ea typeface="프리젠테이션 4 Regular" pitchFamily="2" charset="-127"/>
              </a:rPr>
              <a:t>휨 센서</a:t>
            </a:r>
          </a:p>
        </p:txBody>
      </p:sp>
    </p:spTree>
    <p:extLst>
      <p:ext uri="{BB962C8B-B14F-4D97-AF65-F5344CB8AC3E}">
        <p14:creationId xmlns:p14="http://schemas.microsoft.com/office/powerpoint/2010/main" val="2561333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843C0-16A3-BE73-90CF-C95BB23CA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62AAFCF-6B8B-3405-65CA-4611436516D3}"/>
              </a:ext>
            </a:extLst>
          </p:cNvPr>
          <p:cNvSpPr/>
          <p:nvPr/>
        </p:nvSpPr>
        <p:spPr>
          <a:xfrm>
            <a:off x="328190" y="738698"/>
            <a:ext cx="8496944" cy="45719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0DD0A8CB-F72C-CEDA-4BE6-DF3179085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54338" y="419292"/>
            <a:ext cx="372420" cy="365125"/>
          </a:xfrm>
        </p:spPr>
        <p:txBody>
          <a:bodyPr/>
          <a:lstStyle/>
          <a:p>
            <a:pPr lvl="0">
              <a:defRPr/>
            </a:pPr>
            <a:fld id="{1E33FF7C-8566-45B7-B9A1-9079E74E4723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FC87FC7-7BE9-A8A6-DE44-4BC8D526F5DC}"/>
              </a:ext>
            </a:extLst>
          </p:cNvPr>
          <p:cNvSpPr/>
          <p:nvPr/>
        </p:nvSpPr>
        <p:spPr>
          <a:xfrm>
            <a:off x="273226" y="234906"/>
            <a:ext cx="8379374" cy="5037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ko-KR" altLang="en-US" sz="2000" b="1" dirty="0">
                <a:solidFill>
                  <a:srgbClr val="004C86"/>
                </a:solidFill>
                <a:latin typeface="프리젠테이션 7 Bold" pitchFamily="2" charset="-127"/>
                <a:ea typeface="프리젠테이션 7 Bold" pitchFamily="2" charset="-127"/>
                <a:cs typeface="KoPubWorld돋움체_Pro Medium"/>
              </a:rPr>
              <a:t>고려할 점 </a:t>
            </a:r>
            <a:r>
              <a:rPr lang="en-US" altLang="ko-KR" sz="2000" b="1" dirty="0">
                <a:solidFill>
                  <a:srgbClr val="004C86"/>
                </a:solidFill>
                <a:latin typeface="프리젠테이션 7 Bold" pitchFamily="2" charset="-127"/>
                <a:ea typeface="프리젠테이션 7 Bold" pitchFamily="2" charset="-127"/>
                <a:cs typeface="KoPubWorld돋움체_Pro Medium"/>
              </a:rPr>
              <a:t>/ </a:t>
            </a:r>
            <a:r>
              <a:rPr lang="ko-KR" altLang="en-US" sz="2000" b="1" dirty="0">
                <a:solidFill>
                  <a:srgbClr val="004C86"/>
                </a:solidFill>
                <a:latin typeface="프리젠테이션 7 Bold" pitchFamily="2" charset="-127"/>
                <a:ea typeface="프리젠테이션 7 Bold" pitchFamily="2" charset="-127"/>
                <a:cs typeface="KoPubWorld돋움체_Pro Medium"/>
              </a:rPr>
              <a:t>우려사항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1FB32DE-1AB7-69DE-39F5-65A1F147C34B}"/>
              </a:ext>
            </a:extLst>
          </p:cNvPr>
          <p:cNvSpPr/>
          <p:nvPr/>
        </p:nvSpPr>
        <p:spPr>
          <a:xfrm>
            <a:off x="289200" y="6538181"/>
            <a:ext cx="5434928" cy="165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100" b="1" dirty="0">
                <a:solidFill>
                  <a:srgbClr val="004C86"/>
                </a:solidFill>
              </a:rPr>
              <a:t>2025</a:t>
            </a:r>
            <a:r>
              <a:rPr lang="ko-KR" altLang="en-US" sz="1100" b="1" dirty="0">
                <a:solidFill>
                  <a:srgbClr val="004C86"/>
                </a:solidFill>
              </a:rPr>
              <a:t>년 </a:t>
            </a:r>
            <a:r>
              <a:rPr lang="en-US" altLang="ko-KR" sz="1100" b="1" dirty="0">
                <a:solidFill>
                  <a:srgbClr val="004C86"/>
                </a:solidFill>
              </a:rPr>
              <a:t>baqu4 </a:t>
            </a:r>
            <a:r>
              <a:rPr lang="ko-KR" altLang="en-US" sz="1100" b="1" dirty="0">
                <a:solidFill>
                  <a:srgbClr val="004C86"/>
                </a:solidFill>
              </a:rPr>
              <a:t>자율주행 정기회의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452F6F9-E654-E1D2-3610-C025CAAE7F65}"/>
              </a:ext>
            </a:extLst>
          </p:cNvPr>
          <p:cNvSpPr/>
          <p:nvPr/>
        </p:nvSpPr>
        <p:spPr>
          <a:xfrm>
            <a:off x="384479" y="1103823"/>
            <a:ext cx="312616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b="1" i="0" u="none" strike="noStrike" dirty="0">
                <a:solidFill>
                  <a:srgbClr val="000000"/>
                </a:solidFill>
                <a:effectLst/>
                <a:latin typeface="프리젠테이션 6 SemiBold" pitchFamily="2" charset="-127"/>
                <a:ea typeface="프리젠테이션 6 SemiBold" pitchFamily="2" charset="-127"/>
              </a:rPr>
              <a:t>압력센서 </a:t>
            </a:r>
            <a:r>
              <a:rPr lang="ko-KR" altLang="en-US" b="1" i="0" u="none" strike="noStrike">
                <a:solidFill>
                  <a:srgbClr val="000000"/>
                </a:solidFill>
                <a:effectLst/>
                <a:latin typeface="프리젠테이션 6 SemiBold" pitchFamily="2" charset="-127"/>
                <a:ea typeface="프리젠테이션 6 SemiBold" pitchFamily="2" charset="-127"/>
              </a:rPr>
              <a:t>대체재 </a:t>
            </a:r>
            <a:r>
              <a:rPr lang="en-US" altLang="ko-KR" b="1" i="0" u="none" strike="noStrike" dirty="0">
                <a:solidFill>
                  <a:srgbClr val="000000"/>
                </a:solidFill>
                <a:effectLst/>
                <a:latin typeface="프리젠테이션 6 SemiBold" pitchFamily="2" charset="-127"/>
                <a:ea typeface="프리젠테이션 6 SemiBold" pitchFamily="2" charset="-127"/>
              </a:rPr>
              <a:t>(</a:t>
            </a:r>
            <a:r>
              <a:rPr lang="ko-KR" altLang="en-US" b="1" i="0" u="none" strike="noStrike" dirty="0">
                <a:solidFill>
                  <a:srgbClr val="000000"/>
                </a:solidFill>
                <a:effectLst/>
                <a:latin typeface="프리젠테이션 6 SemiBold" pitchFamily="2" charset="-127"/>
                <a:ea typeface="프리젠테이션 6 SemiBold" pitchFamily="2" charset="-127"/>
              </a:rPr>
              <a:t>기울기 센서</a:t>
            </a:r>
            <a:r>
              <a:rPr lang="en-US" altLang="ko-KR" b="1" i="0" u="none" strike="noStrike" dirty="0">
                <a:solidFill>
                  <a:srgbClr val="000000"/>
                </a:solidFill>
                <a:effectLst/>
                <a:latin typeface="프리젠테이션 6 SemiBold" pitchFamily="2" charset="-127"/>
                <a:ea typeface="프리젠테이션 6 SemiBold" pitchFamily="2" charset="-127"/>
              </a:rPr>
              <a:t>)</a:t>
            </a:r>
            <a:endParaRPr lang="en-US" altLang="ko-KR" b="1" dirty="0">
              <a:latin typeface="프리젠테이션 6 SemiBold" pitchFamily="2" charset="-127"/>
              <a:ea typeface="프리젠테이션 6 SemiBold" pitchFamily="2" charset="-127"/>
              <a:cs typeface="KoPubWorld돋움체_Pro Medium"/>
            </a:endParaRPr>
          </a:p>
        </p:txBody>
      </p:sp>
      <p:sp>
        <p:nvSpPr>
          <p:cNvPr id="5" name="슬라이드 번호 개체 틀 1">
            <a:extLst>
              <a:ext uri="{FF2B5EF4-FFF2-40B4-BE49-F238E27FC236}">
                <a16:creationId xmlns:a16="http://schemas.microsoft.com/office/drawing/2014/main" id="{13436C5D-EEB3-2210-BA59-0E9F1798E69E}"/>
              </a:ext>
            </a:extLst>
          </p:cNvPr>
          <p:cNvSpPr txBox="1">
            <a:spLocks/>
          </p:cNvSpPr>
          <p:nvPr/>
        </p:nvSpPr>
        <p:spPr>
          <a:xfrm>
            <a:off x="3751709" y="971440"/>
            <a:ext cx="37242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1E33FF7C-8566-45B7-B9A1-9079E74E472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629E2B8-3A75-683D-06C3-E28EF02C90D0}"/>
              </a:ext>
            </a:extLst>
          </p:cNvPr>
          <p:cNvSpPr/>
          <p:nvPr/>
        </p:nvSpPr>
        <p:spPr>
          <a:xfrm rot="20365663">
            <a:off x="1748274" y="1700618"/>
            <a:ext cx="302976" cy="21541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DB0102-7CCB-AA9E-8CA1-92BDEB872080}"/>
              </a:ext>
            </a:extLst>
          </p:cNvPr>
          <p:cNvSpPr txBox="1"/>
          <p:nvPr/>
        </p:nvSpPr>
        <p:spPr>
          <a:xfrm>
            <a:off x="1833898" y="1724221"/>
            <a:ext cx="10078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latin typeface="프리젠테이션 4 Regular" pitchFamily="2" charset="-127"/>
                <a:ea typeface="프리젠테이션 4 Regular" pitchFamily="2" charset="-127"/>
              </a:rPr>
              <a:t>브레이크 페달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C96087-BA81-8640-FAB6-3BEF37950909}"/>
              </a:ext>
            </a:extLst>
          </p:cNvPr>
          <p:cNvSpPr txBox="1"/>
          <p:nvPr/>
        </p:nvSpPr>
        <p:spPr>
          <a:xfrm>
            <a:off x="2494997" y="2848968"/>
            <a:ext cx="11836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프리젠테이션 4 Regular" pitchFamily="2" charset="-127"/>
                <a:ea typeface="프리젠테이션 4 Regular" pitchFamily="2" charset="-127"/>
              </a:rPr>
              <a:t>DC Actuator</a:t>
            </a:r>
            <a:endParaRPr lang="ko-KR" altLang="en-US" sz="1400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E78E60B9-6529-A2D7-E7ED-CE00B67DD931}"/>
              </a:ext>
            </a:extLst>
          </p:cNvPr>
          <p:cNvSpPr/>
          <p:nvPr/>
        </p:nvSpPr>
        <p:spPr>
          <a:xfrm>
            <a:off x="3589867" y="3171547"/>
            <a:ext cx="308558" cy="181651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FCAE93-96B1-943E-7934-789821ABF369}"/>
              </a:ext>
            </a:extLst>
          </p:cNvPr>
          <p:cNvSpPr txBox="1"/>
          <p:nvPr/>
        </p:nvSpPr>
        <p:spPr>
          <a:xfrm>
            <a:off x="874302" y="1561398"/>
            <a:ext cx="6949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Push</a:t>
            </a:r>
            <a:endParaRPr lang="ko-KR" altLang="en-US" sz="1400" b="1" dirty="0">
              <a:solidFill>
                <a:srgbClr val="FF0000"/>
              </a:solidFill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D1BF9A01-34FD-30C5-7246-26D174D14D1D}"/>
              </a:ext>
            </a:extLst>
          </p:cNvPr>
          <p:cNvSpPr/>
          <p:nvPr/>
        </p:nvSpPr>
        <p:spPr>
          <a:xfrm flipH="1">
            <a:off x="1082340" y="1905873"/>
            <a:ext cx="255963" cy="141277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D2D8A9-F0F2-F175-9A66-FB4D1A482A45}"/>
              </a:ext>
            </a:extLst>
          </p:cNvPr>
          <p:cNvSpPr txBox="1"/>
          <p:nvPr/>
        </p:nvSpPr>
        <p:spPr>
          <a:xfrm>
            <a:off x="3470016" y="2958138"/>
            <a:ext cx="6949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FF0000"/>
                </a:solidFill>
                <a:latin typeface="프리젠테이션 4 Regular" pitchFamily="2" charset="-127"/>
                <a:ea typeface="프리젠테이션 4 Regular" pitchFamily="2" charset="-127"/>
              </a:rPr>
              <a:t>PULL</a:t>
            </a:r>
            <a:endParaRPr lang="ko-KR" altLang="en-US" sz="1400" b="1" dirty="0">
              <a:solidFill>
                <a:srgbClr val="FF0000"/>
              </a:solidFill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0246E2A-8ABA-594F-E587-71E4E1249BF9}"/>
              </a:ext>
            </a:extLst>
          </p:cNvPr>
          <p:cNvSpPr/>
          <p:nvPr/>
        </p:nvSpPr>
        <p:spPr>
          <a:xfrm rot="16200000">
            <a:off x="2671602" y="2738385"/>
            <a:ext cx="302976" cy="215067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9" name="잉크 18">
                <a:extLst>
                  <a:ext uri="{FF2B5EF4-FFF2-40B4-BE49-F238E27FC236}">
                    <a16:creationId xmlns:a16="http://schemas.microsoft.com/office/drawing/2014/main" id="{167027DF-4F80-757E-2B5B-1F923DB0A565}"/>
                  </a:ext>
                </a:extLst>
              </p14:cNvPr>
              <p14:cNvContentPartPr/>
              <p14:nvPr/>
            </p14:nvContentPartPr>
            <p14:xfrm rot="1007495">
              <a:off x="1892664" y="2313978"/>
              <a:ext cx="343166" cy="343166"/>
            </p14:xfrm>
          </p:contentPart>
        </mc:Choice>
        <mc:Fallback xmlns="">
          <p:pic>
            <p:nvPicPr>
              <p:cNvPr id="19" name="잉크 18">
                <a:extLst>
                  <a:ext uri="{FF2B5EF4-FFF2-40B4-BE49-F238E27FC236}">
                    <a16:creationId xmlns:a16="http://schemas.microsoft.com/office/drawing/2014/main" id="{167027DF-4F80-757E-2B5B-1F923DB0A56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 rot="1007495">
                <a:off x="1838707" y="2206064"/>
                <a:ext cx="450720" cy="558634"/>
              </a:xfrm>
              <a:prstGeom prst="rect">
                <a:avLst/>
              </a:prstGeom>
            </p:spPr>
          </p:pic>
        </mc:Fallback>
      </mc:AlternateContent>
      <p:sp>
        <p:nvSpPr>
          <p:cNvPr id="20" name="직사각형 19">
            <a:extLst>
              <a:ext uri="{FF2B5EF4-FFF2-40B4-BE49-F238E27FC236}">
                <a16:creationId xmlns:a16="http://schemas.microsoft.com/office/drawing/2014/main" id="{4F75D8AC-EF8A-243F-57C3-AA9E0DE17543}"/>
              </a:ext>
            </a:extLst>
          </p:cNvPr>
          <p:cNvSpPr/>
          <p:nvPr/>
        </p:nvSpPr>
        <p:spPr>
          <a:xfrm>
            <a:off x="2011330" y="3157373"/>
            <a:ext cx="1458686" cy="2100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59EDC8AD-30F8-88A4-7AB5-77C3C8F19006}"/>
              </a:ext>
            </a:extLst>
          </p:cNvPr>
          <p:cNvSpPr/>
          <p:nvPr/>
        </p:nvSpPr>
        <p:spPr>
          <a:xfrm>
            <a:off x="2066325" y="3185722"/>
            <a:ext cx="152400" cy="15330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2244628-9EC5-F722-9972-5E0B18BC9041}"/>
              </a:ext>
            </a:extLst>
          </p:cNvPr>
          <p:cNvSpPr txBox="1"/>
          <p:nvPr/>
        </p:nvSpPr>
        <p:spPr>
          <a:xfrm>
            <a:off x="2181185" y="4089482"/>
            <a:ext cx="1183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프리젠테이션 6 SemiBold" pitchFamily="2" charset="-127"/>
                <a:ea typeface="프리젠테이션 6 SemiBold" pitchFamily="2" charset="-127"/>
              </a:rPr>
              <a:t>측면도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46177D1-401F-D5FA-CA94-D782051E857C}"/>
              </a:ext>
            </a:extLst>
          </p:cNvPr>
          <p:cNvSpPr txBox="1"/>
          <p:nvPr/>
        </p:nvSpPr>
        <p:spPr>
          <a:xfrm>
            <a:off x="2231280" y="2255569"/>
            <a:ext cx="9357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>
                <a:latin typeface="프리젠테이션 4 Regular" pitchFamily="2" charset="-127"/>
                <a:ea typeface="프리젠테이션 4 Regular" pitchFamily="2" charset="-127"/>
              </a:rPr>
              <a:t>기울기 센서</a:t>
            </a:r>
            <a:endParaRPr lang="ko-KR" altLang="en-US" sz="1400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892EB3E-15F9-6727-6663-B63D188FC3F2}"/>
              </a:ext>
            </a:extLst>
          </p:cNvPr>
          <p:cNvSpPr txBox="1"/>
          <p:nvPr/>
        </p:nvSpPr>
        <p:spPr>
          <a:xfrm>
            <a:off x="667456" y="4658138"/>
            <a:ext cx="4838700" cy="874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프리젠테이션 6 SemiBold" pitchFamily="2" charset="-127"/>
                <a:ea typeface="프리젠테이션 6 SemiBold" pitchFamily="2" charset="-127"/>
              </a:rPr>
              <a:t>기울기 센서 사용시 우려사항</a:t>
            </a:r>
            <a:br>
              <a:rPr lang="en-US" altLang="ko-KR" dirty="0">
                <a:latin typeface="프리젠테이션 4 Regular" pitchFamily="2" charset="-127"/>
                <a:ea typeface="프리젠테이션 4 Regular" pitchFamily="2" charset="-127"/>
              </a:rPr>
            </a:br>
            <a:r>
              <a:rPr lang="en-US" altLang="ko-KR" dirty="0">
                <a:latin typeface="프리젠테이션 4 Regular" pitchFamily="2" charset="-127"/>
                <a:ea typeface="프리젠테이션 4 Regular" pitchFamily="2" charset="-127"/>
              </a:rPr>
              <a:t>-&gt;  </a:t>
            </a:r>
            <a:r>
              <a:rPr lang="ko-KR" altLang="en-US" dirty="0">
                <a:latin typeface="프리젠테이션 4 Regular" pitchFamily="2" charset="-127"/>
                <a:ea typeface="프리젠테이션 4 Regular" pitchFamily="2" charset="-127"/>
              </a:rPr>
              <a:t>차체의 흔들림으로 인한 노이즈가 심할 것으로 예상됨</a:t>
            </a:r>
            <a:endParaRPr lang="en-US" altLang="ko-KR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66846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1E044-EC0D-4E18-FA5B-C87A8E17C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B0524AF-9F47-1B34-EBB8-E243C686D92D}"/>
              </a:ext>
            </a:extLst>
          </p:cNvPr>
          <p:cNvSpPr/>
          <p:nvPr/>
        </p:nvSpPr>
        <p:spPr>
          <a:xfrm>
            <a:off x="328190" y="738698"/>
            <a:ext cx="8496944" cy="45719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3DB58A39-5F14-FBAC-94AA-2EC7E236C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54338" y="419292"/>
            <a:ext cx="372420" cy="365125"/>
          </a:xfrm>
        </p:spPr>
        <p:txBody>
          <a:bodyPr/>
          <a:lstStyle/>
          <a:p>
            <a:pPr lvl="0">
              <a:defRPr/>
            </a:pPr>
            <a:fld id="{1E33FF7C-8566-45B7-B9A1-9079E74E4723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A7F62D7-9C0C-BFD8-15F5-9CB705497F0A}"/>
              </a:ext>
            </a:extLst>
          </p:cNvPr>
          <p:cNvSpPr/>
          <p:nvPr/>
        </p:nvSpPr>
        <p:spPr>
          <a:xfrm>
            <a:off x="273226" y="234906"/>
            <a:ext cx="8379374" cy="5037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ko-KR" altLang="en-US" sz="2000" b="1" dirty="0">
                <a:solidFill>
                  <a:srgbClr val="004C86"/>
                </a:solidFill>
                <a:latin typeface="프리젠테이션 7 Bold" pitchFamily="2" charset="-127"/>
                <a:ea typeface="프리젠테이션 7 Bold" pitchFamily="2" charset="-127"/>
                <a:cs typeface="KoPubWorld돋움체_Pro Medium"/>
              </a:rPr>
              <a:t>향후 계획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E83C0DC-E3F9-FDA0-8E0A-4F7CEC16FF15}"/>
              </a:ext>
            </a:extLst>
          </p:cNvPr>
          <p:cNvSpPr/>
          <p:nvPr/>
        </p:nvSpPr>
        <p:spPr>
          <a:xfrm>
            <a:off x="289200" y="6538181"/>
            <a:ext cx="5434928" cy="165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100" b="1" dirty="0">
                <a:solidFill>
                  <a:srgbClr val="004C86"/>
                </a:solidFill>
              </a:rPr>
              <a:t>2025</a:t>
            </a:r>
            <a:r>
              <a:rPr lang="ko-KR" altLang="en-US" sz="1100" b="1" dirty="0">
                <a:solidFill>
                  <a:srgbClr val="004C86"/>
                </a:solidFill>
              </a:rPr>
              <a:t>년 </a:t>
            </a:r>
            <a:r>
              <a:rPr lang="en-US" altLang="ko-KR" sz="1100" b="1" dirty="0">
                <a:solidFill>
                  <a:srgbClr val="004C86"/>
                </a:solidFill>
              </a:rPr>
              <a:t>baqu4 </a:t>
            </a:r>
            <a:r>
              <a:rPr lang="ko-KR" altLang="en-US" sz="1100" b="1" dirty="0">
                <a:solidFill>
                  <a:srgbClr val="004C86"/>
                </a:solidFill>
              </a:rPr>
              <a:t>자율주행 정기회의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AFBDB82-6275-4DF8-563A-F9C608179E65}"/>
              </a:ext>
            </a:extLst>
          </p:cNvPr>
          <p:cNvSpPr/>
          <p:nvPr/>
        </p:nvSpPr>
        <p:spPr>
          <a:xfrm>
            <a:off x="445405" y="1407059"/>
            <a:ext cx="7540847" cy="33659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b="1" i="0" u="none" strike="noStrike" dirty="0">
                <a:solidFill>
                  <a:srgbClr val="000000"/>
                </a:solidFill>
                <a:effectLst/>
                <a:latin typeface="프리젠테이션 7 Bold" pitchFamily="2" charset="-127"/>
                <a:ea typeface="프리젠테이션 7 Bold" pitchFamily="2" charset="-127"/>
              </a:rPr>
              <a:t>휨 센서의 부착위치 </a:t>
            </a:r>
            <a:r>
              <a:rPr lang="en-US" altLang="ko-KR" b="1" i="0" u="none" strike="noStrike" dirty="0">
                <a:solidFill>
                  <a:srgbClr val="000000"/>
                </a:solidFill>
                <a:effectLst/>
                <a:latin typeface="프리젠테이션 7 Bold" pitchFamily="2" charset="-127"/>
                <a:ea typeface="프리젠테이션 7 Bold" pitchFamily="2" charset="-127"/>
              </a:rPr>
              <a:t>1</a:t>
            </a:r>
            <a:r>
              <a:rPr lang="ko-KR" altLang="en-US" b="1" i="0" u="none" strike="noStrike" dirty="0">
                <a:solidFill>
                  <a:srgbClr val="000000"/>
                </a:solidFill>
                <a:effectLst/>
                <a:latin typeface="프리젠테이션 7 Bold" pitchFamily="2" charset="-127"/>
                <a:ea typeface="프리젠테이션 7 Bold" pitchFamily="2" charset="-127"/>
              </a:rPr>
              <a:t>안과 </a:t>
            </a:r>
            <a:r>
              <a:rPr lang="en-US" altLang="ko-KR" b="1" i="0" u="none" strike="noStrike" dirty="0">
                <a:solidFill>
                  <a:srgbClr val="000000"/>
                </a:solidFill>
                <a:effectLst/>
                <a:latin typeface="프리젠테이션 7 Bold" pitchFamily="2" charset="-127"/>
                <a:ea typeface="프리젠테이션 7 Bold" pitchFamily="2" charset="-127"/>
              </a:rPr>
              <a:t>2</a:t>
            </a:r>
            <a:r>
              <a:rPr lang="ko-KR" altLang="en-US" b="1" i="0" u="none" strike="noStrike" dirty="0">
                <a:solidFill>
                  <a:srgbClr val="000000"/>
                </a:solidFill>
                <a:effectLst/>
                <a:latin typeface="프리젠테이션 7 Bold" pitchFamily="2" charset="-127"/>
                <a:ea typeface="프리젠테이션 7 Bold" pitchFamily="2" charset="-127"/>
              </a:rPr>
              <a:t>안을 모두 </a:t>
            </a:r>
            <a:r>
              <a:rPr lang="ko-KR" altLang="en-US" b="1" dirty="0">
                <a:solidFill>
                  <a:srgbClr val="000000"/>
                </a:solidFill>
                <a:latin typeface="프리젠테이션 7 Bold" pitchFamily="2" charset="-127"/>
                <a:ea typeface="프리젠테이션 7 Bold" pitchFamily="2" charset="-127"/>
              </a:rPr>
              <a:t>시도</a:t>
            </a:r>
            <a:br>
              <a:rPr lang="en-US" altLang="ko-KR" b="1" dirty="0">
                <a:solidFill>
                  <a:srgbClr val="000000"/>
                </a:solidFill>
                <a:latin typeface="프리젠테이션 4 Regular" pitchFamily="2" charset="-127"/>
                <a:ea typeface="프리젠테이션 4 Regular" pitchFamily="2" charset="-127"/>
              </a:rPr>
            </a:br>
            <a:r>
              <a:rPr lang="en-US" altLang="ko-KR" dirty="0">
                <a:solidFill>
                  <a:srgbClr val="000000"/>
                </a:solidFill>
                <a:latin typeface="프리젠테이션 4 Regular" pitchFamily="2" charset="-127"/>
                <a:ea typeface="프리젠테이션 4 Regular" pitchFamily="2" charset="-127"/>
              </a:rPr>
              <a:t>-&gt;</a:t>
            </a:r>
            <a:r>
              <a:rPr lang="ko-KR" altLang="en-US" i="0" u="none" strike="noStrike" dirty="0">
                <a:solidFill>
                  <a:srgbClr val="000000"/>
                </a:solidFill>
                <a:effectLst/>
                <a:latin typeface="프리젠테이션 4 Regular" pitchFamily="2" charset="-127"/>
                <a:ea typeface="프리젠테이션 4 Regular" pitchFamily="2" charset="-127"/>
              </a:rPr>
              <a:t> 원활한 측정 및 고장 가능성이 매우 낮을 것으로 예상되는 위치에</a:t>
            </a:r>
            <a:r>
              <a:rPr lang="en-US" altLang="ko-KR" dirty="0">
                <a:solidFill>
                  <a:srgbClr val="000000"/>
                </a:solidFill>
                <a:latin typeface="프리젠테이션 4 Regular" pitchFamily="2" charset="-127"/>
                <a:ea typeface="프리젠테이션 4 Regular" pitchFamily="2" charset="-127"/>
              </a:rPr>
              <a:t> </a:t>
            </a:r>
            <a:r>
              <a:rPr lang="ko-KR" altLang="en-US" dirty="0">
                <a:solidFill>
                  <a:srgbClr val="000000"/>
                </a:solidFill>
                <a:latin typeface="프리젠테이션 4 Regular" pitchFamily="2" charset="-127"/>
                <a:ea typeface="프리젠테이션 4 Regular" pitchFamily="2" charset="-127"/>
              </a:rPr>
              <a:t>부착할 계획</a:t>
            </a:r>
            <a:endParaRPr lang="en-US" altLang="ko-KR" i="0" u="none" strike="noStrike" dirty="0">
              <a:solidFill>
                <a:srgbClr val="000000"/>
              </a:solidFill>
              <a:effectLst/>
              <a:latin typeface="프리젠테이션 4 Regular" pitchFamily="2" charset="-127"/>
              <a:ea typeface="프리젠테이션 4 Regular" pitchFamily="2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b="1" i="0" u="none" strike="noStrike" dirty="0">
              <a:solidFill>
                <a:srgbClr val="000000"/>
              </a:solidFill>
              <a:effectLst/>
              <a:latin typeface="프리젠테이션 4 Regular" pitchFamily="2" charset="-127"/>
              <a:ea typeface="프리젠테이션 4 Regular" pitchFamily="2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b="1" dirty="0">
                <a:solidFill>
                  <a:srgbClr val="000000"/>
                </a:solidFill>
                <a:latin typeface="프리젠테이션 7 Bold" pitchFamily="2" charset="-127"/>
                <a:ea typeface="프리젠테이션 7 Bold" pitchFamily="2" charset="-127"/>
              </a:rPr>
              <a:t>적절한 </a:t>
            </a:r>
            <a:r>
              <a:rPr lang="ko-KR" altLang="en-US" b="1" i="0" u="none" strike="noStrike" dirty="0">
                <a:solidFill>
                  <a:srgbClr val="000000"/>
                </a:solidFill>
                <a:effectLst/>
                <a:latin typeface="프리젠테이션 7 Bold" pitchFamily="2" charset="-127"/>
                <a:ea typeface="프리젠테이션 7 Bold" pitchFamily="2" charset="-127"/>
              </a:rPr>
              <a:t>브레이크 제어 값 확인</a:t>
            </a:r>
            <a:br>
              <a:rPr lang="en-US" altLang="ko-KR" b="1" i="0" u="none" strike="noStrike" dirty="0">
                <a:solidFill>
                  <a:srgbClr val="000000"/>
                </a:solidFill>
                <a:effectLst/>
                <a:latin typeface="프리젠테이션 4 Regular" pitchFamily="2" charset="-127"/>
                <a:ea typeface="프리젠테이션 4 Regular" pitchFamily="2" charset="-127"/>
              </a:rPr>
            </a:br>
            <a:r>
              <a:rPr lang="en-US" altLang="ko-KR" b="1" i="0" u="none" strike="noStrike" dirty="0">
                <a:solidFill>
                  <a:srgbClr val="000000"/>
                </a:solidFill>
                <a:effectLst/>
                <a:latin typeface="프리젠테이션 4 Regular" pitchFamily="2" charset="-127"/>
                <a:ea typeface="프리젠테이션 4 Regular" pitchFamily="2" charset="-127"/>
              </a:rPr>
              <a:t>-&gt; </a:t>
            </a:r>
            <a:r>
              <a:rPr lang="ko-KR" altLang="en-US" i="0" u="none" strike="noStrike" dirty="0">
                <a:solidFill>
                  <a:srgbClr val="000000"/>
                </a:solidFill>
                <a:effectLst/>
                <a:latin typeface="프리젠테이션 4 Regular" pitchFamily="2" charset="-127"/>
                <a:ea typeface="프리젠테이션 4 Regular" pitchFamily="2" charset="-127"/>
              </a:rPr>
              <a:t>이때의 압력센서 값을 </a:t>
            </a:r>
            <a:r>
              <a:rPr lang="en-US" altLang="ko-KR" i="0" u="none" strike="noStrike" dirty="0">
                <a:solidFill>
                  <a:srgbClr val="000000"/>
                </a:solidFill>
                <a:effectLst/>
                <a:latin typeface="프리젠테이션 4 Regular" pitchFamily="2" charset="-127"/>
                <a:ea typeface="프리젠테이션 4 Regular" pitchFamily="2" charset="-127"/>
              </a:rPr>
              <a:t>Limit </a:t>
            </a:r>
            <a:r>
              <a:rPr lang="ko-KR" altLang="en-US" i="0" u="none" strike="noStrike" dirty="0">
                <a:solidFill>
                  <a:srgbClr val="000000"/>
                </a:solidFill>
                <a:effectLst/>
                <a:latin typeface="프리젠테이션 4 Regular" pitchFamily="2" charset="-127"/>
                <a:ea typeface="프리젠테이션 4 Regular" pitchFamily="2" charset="-127"/>
              </a:rPr>
              <a:t>으로 선정하여 </a:t>
            </a:r>
            <a:br>
              <a:rPr lang="en-US" altLang="ko-KR" i="0" u="none" strike="noStrike" dirty="0">
                <a:solidFill>
                  <a:srgbClr val="000000"/>
                </a:solidFill>
                <a:effectLst/>
                <a:latin typeface="프리젠테이션 4 Regular" pitchFamily="2" charset="-127"/>
                <a:ea typeface="프리젠테이션 4 Regular" pitchFamily="2" charset="-127"/>
              </a:rPr>
            </a:br>
            <a:r>
              <a:rPr lang="ko-KR" altLang="en-US" i="0" u="none" strike="noStrike" dirty="0">
                <a:solidFill>
                  <a:srgbClr val="000000"/>
                </a:solidFill>
                <a:effectLst/>
                <a:latin typeface="프리젠테이션 4 Regular" pitchFamily="2" charset="-127"/>
                <a:ea typeface="프리젠테이션 4 Regular" pitchFamily="2" charset="-127"/>
              </a:rPr>
              <a:t>그 값까지</a:t>
            </a:r>
            <a:r>
              <a:rPr lang="en-US" altLang="ko-KR" i="0" u="none" strike="noStrike" dirty="0">
                <a:solidFill>
                  <a:srgbClr val="000000"/>
                </a:solidFill>
                <a:effectLst/>
                <a:latin typeface="프리젠테이션 4 Regular" pitchFamily="2" charset="-127"/>
                <a:ea typeface="프리젠테이션 4 Regular" pitchFamily="2" charset="-127"/>
              </a:rPr>
              <a:t> Actuator</a:t>
            </a:r>
            <a:r>
              <a:rPr lang="ko-KR" altLang="en-US" i="0" u="none" strike="noStrike" dirty="0">
                <a:solidFill>
                  <a:srgbClr val="000000"/>
                </a:solidFill>
                <a:effectLst/>
                <a:latin typeface="프리젠테이션 4 Regular" pitchFamily="2" charset="-127"/>
                <a:ea typeface="프리젠테이션 4 Regular" pitchFamily="2" charset="-127"/>
              </a:rPr>
              <a:t>가 작동하도록</a:t>
            </a:r>
            <a:br>
              <a:rPr lang="en-US" altLang="ko-KR" b="1" i="0" u="none" strike="noStrike" dirty="0">
                <a:solidFill>
                  <a:srgbClr val="000000"/>
                </a:solidFill>
                <a:effectLst/>
                <a:latin typeface="프리젠테이션 4 Regular" pitchFamily="2" charset="-127"/>
                <a:ea typeface="프리젠테이션 4 Regular" pitchFamily="2" charset="-127"/>
              </a:rPr>
            </a:br>
            <a:endParaRPr lang="en-US" altLang="ko-KR" b="1" i="0" u="none" strike="noStrike" dirty="0">
              <a:solidFill>
                <a:srgbClr val="000000"/>
              </a:solidFill>
              <a:effectLst/>
              <a:latin typeface="프리젠테이션 4 Regular" pitchFamily="2" charset="-127"/>
              <a:ea typeface="프리젠테이션 4 Regular" pitchFamily="2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b="1" dirty="0">
                <a:solidFill>
                  <a:srgbClr val="000000"/>
                </a:solidFill>
                <a:latin typeface="프리젠테이션 7 Bold" pitchFamily="2" charset="-127"/>
                <a:ea typeface="프리젠테이션 7 Bold" pitchFamily="2" charset="-127"/>
              </a:rPr>
              <a:t>이후 </a:t>
            </a:r>
            <a:r>
              <a:rPr lang="en-US" altLang="ko-KR" b="1" i="0" u="none" strike="noStrike" dirty="0">
                <a:solidFill>
                  <a:srgbClr val="000000"/>
                </a:solidFill>
                <a:effectLst/>
                <a:latin typeface="프리젠테이션 7 Bold" pitchFamily="2" charset="-127"/>
                <a:ea typeface="프리젠테이션 7 Bold" pitchFamily="2" charset="-127"/>
              </a:rPr>
              <a:t>IGBT</a:t>
            </a:r>
            <a:r>
              <a:rPr lang="ko-KR" altLang="en-US" b="1" i="0" u="none" strike="noStrike" dirty="0">
                <a:solidFill>
                  <a:srgbClr val="000000"/>
                </a:solidFill>
                <a:effectLst/>
                <a:latin typeface="프리젠테이션 7 Bold" pitchFamily="2" charset="-127"/>
                <a:ea typeface="프리젠테이션 7 Bold" pitchFamily="2" charset="-127"/>
              </a:rPr>
              <a:t> 추가하여 안정적인 회로 구현</a:t>
            </a:r>
            <a:endParaRPr lang="en-US" altLang="ko-KR" b="1" i="0" u="none" strike="noStrike" dirty="0">
              <a:solidFill>
                <a:srgbClr val="000000"/>
              </a:solidFill>
              <a:effectLst/>
              <a:latin typeface="프리젠테이션 7 Bold" pitchFamily="2" charset="-127"/>
              <a:ea typeface="프리젠테이션 7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60873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23528" y="3383281"/>
            <a:ext cx="8496944" cy="45719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prstClr val="white"/>
              </a:solidFill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23528" y="2886299"/>
            <a:ext cx="69489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2400" b="1" i="0" u="none" strike="noStrike" kern="1200" cap="none" spc="0" normalizeH="0" baseline="0" dirty="0">
                <a:solidFill>
                  <a:srgbClr val="1F497D"/>
                </a:solidFill>
                <a:effectLst/>
                <a:uLnTx/>
                <a:uFillTx/>
                <a:latin typeface="프리젠테이션 7 Bold" pitchFamily="2" charset="-127"/>
                <a:ea typeface="프리젠테이션 7 Bold" pitchFamily="2" charset="-127"/>
              </a:rPr>
              <a:t>Thank you </a:t>
            </a:r>
            <a:endParaRPr kumimoji="0" lang="en-US" altLang="ko-KR" sz="2400" b="1" i="0" u="none" strike="noStrike" kern="1200" cap="none" spc="0" normalizeH="0" baseline="0" dirty="0">
              <a:solidFill>
                <a:srgbClr val="1F497D"/>
              </a:solidFill>
              <a:latin typeface="프리젠테이션 7 Bold" pitchFamily="2" charset="-127"/>
              <a:ea typeface="프리젠테이션 7 Bold" pitchFamily="2" charset="-127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1426</TotalTime>
  <Words>627</Words>
  <Application>Microsoft Office PowerPoint</Application>
  <PresentationFormat>화면 슬라이드 쇼(4:3)</PresentationFormat>
  <Paragraphs>119</Paragraphs>
  <Slides>8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7" baseType="lpstr">
      <vt:lpstr>프리젠테이션 7 Bold</vt:lpstr>
      <vt:lpstr>Arial</vt:lpstr>
      <vt:lpstr>KoPubWorld돋움체_Pro Medium</vt:lpstr>
      <vt:lpstr>프리젠테이션 4 Regular</vt:lpstr>
      <vt:lpstr>프리젠테이션 5 Medium</vt:lpstr>
      <vt:lpstr>프리젠테이션 6 SemiBold</vt:lpstr>
      <vt:lpstr>맑은 고딕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HYU</dc:creator>
  <cp:lastModifiedBy>동근 신</cp:lastModifiedBy>
  <cp:revision>567</cp:revision>
  <dcterms:created xsi:type="dcterms:W3CDTF">2014-07-02T04:30:08Z</dcterms:created>
  <dcterms:modified xsi:type="dcterms:W3CDTF">2025-01-06T09:49:39Z</dcterms:modified>
  <cp:version/>
</cp:coreProperties>
</file>