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5" d="100"/>
          <a:sy n="105" d="100"/>
        </p:scale>
        <p:origin x="-25" y="-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78CD3-BC0C-88F1-D993-242FA7B0D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C2CBAC-2D10-024F-09BB-8D97D99D8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C6B334-172F-D7F9-39AC-1B9DA5A0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6BFABA-5294-F869-DA4C-C2AD92AB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BB7B85-9B86-352C-8043-0874F1CF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818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3514C-D3AA-1784-D3D2-6A6F854E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A4836A-85E3-A8AE-6A4B-5BD08A4CF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5E3A6-725A-E544-B925-11DB4337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93C932-3F04-DAF9-4672-E7FF7999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75132D-8E92-27BE-0BB4-179FF63A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81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CC07E-924A-351D-4549-52FB076EC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654BCE-D4C8-BD54-78B1-F7B4D1369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022352-FECB-6FDF-7609-296288CCD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6BDD5F-6312-6743-545B-BAA0217D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DF8F3F-9231-F182-9E79-FA3EEB26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897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5976E-5E77-71F1-2DB0-2B42CE2F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A35790-F498-153C-C080-C19FCCA17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088AA9-FCBA-6A20-9AB0-C33C8417D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BCAB3E-907D-0C86-54BD-80B529BB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D87B8C-21F2-EB8B-149C-4DE71E5A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60EF4A-EAA7-2439-14F6-3EEDB2A6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43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33FF4-4824-3D44-0D4D-2C0C3044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DE351B-93F3-33DB-A84B-716982E09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319587-9934-53EA-E8BA-765B1973E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8DDC6B-3265-37CE-D1FF-E97B51FAA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9A5847-58AD-E7C3-B483-D0EF5CDBE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B936BF-D11C-13CB-B5DC-2C1B74969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C1C3E9-60EA-E9ED-F7AF-1789CF93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C0698C-00A4-A86D-4965-A8148BA4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60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E3695-D3AA-4CD4-CB31-66EE2124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884288-B365-56DD-0D2C-2AFB21991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1415F1-AA0E-D679-691E-20082DC8F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B02ABD-3936-7693-6435-F6AFDF76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4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F6488E-D8AD-02C4-623A-9BD07925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F7FB80-11B4-D464-20A5-51AC3FC3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D201A-BC50-E5D6-066D-AAC929D5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2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2CB6F-FA36-49A7-14BF-D055A321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680000-6CD9-E461-81E2-19DD98F7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0C931C-1A26-64F0-3BAE-3E1513C4D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CB738F-6CAD-BC20-DB66-81C7BB4B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1786F5-0C10-B61A-3015-170D99F1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D519A9-1923-E7D3-40D3-B6AA5F4E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94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5B44B-8A20-97F5-A0A0-EDFC26EE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6A7271-001B-DC80-5594-54E524DF6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5D105C-B37B-25C3-A553-A7B612DC7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F53E03-53C2-2735-0026-5C966DF3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C902E8-A774-431F-1C4D-29353230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586968-71F6-2659-AEC4-3DFA8DA5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08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495BD-F9E7-0519-344A-925531E0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E3BE1E-60D2-9FBC-38B0-BFC2EFD7A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0D8E15-4EAB-2470-A857-E3DEE591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683C2-42C2-AC51-3060-C342CF57F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6AABD9-311B-B3DE-4818-8F3D50B9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14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42C286-33BD-59F9-05C2-A4B9355E7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6B60AE-C9F1-C5FA-092E-CC24DD270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DF5AA3-4ECA-2B44-3C79-60A0440F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B8C756-F3C8-5185-D032-C1979A4A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0BF1E3-E1DF-E1B4-15A1-F715C3EB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4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2814" y="628650"/>
            <a:ext cx="11609186" cy="415926"/>
          </a:xfrm>
        </p:spPr>
        <p:txBody>
          <a:bodyPr lIns="0">
            <a:normAutofit/>
          </a:bodyPr>
          <a:lstStyle>
            <a:lvl1pPr marL="0" algn="l" defTabSz="914400" rtl="0" eaLnBrk="1" latinLnBrk="1" hangingPunct="1">
              <a:spcAft>
                <a:spcPts val="800"/>
              </a:spcAft>
              <a:defRPr lang="ko-KR" altLang="en-US" sz="2000" b="1" kern="12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ACE68A7-89DE-596E-C266-4E95C2E95C40}"/>
              </a:ext>
            </a:extLst>
          </p:cNvPr>
          <p:cNvSpPr txBox="1">
            <a:spLocks/>
          </p:cNvSpPr>
          <p:nvPr userDrawn="1"/>
        </p:nvSpPr>
        <p:spPr>
          <a:xfrm>
            <a:off x="9502353" y="6575425"/>
            <a:ext cx="2208938" cy="12311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sz="2600" b="0" i="0">
                <a:solidFill>
                  <a:srgbClr val="2E2F3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algn="ctr">
              <a:spcAft>
                <a:spcPts val="200"/>
              </a:spcAft>
            </a:pPr>
            <a:r>
              <a:rPr lang="en-US" altLang="ko-KR" sz="8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cs typeface="+mn-cs"/>
              </a:rPr>
              <a:t>2025 </a:t>
            </a:r>
            <a:r>
              <a:rPr lang="ko-KR" altLang="en-US" sz="8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cs typeface="+mn-cs"/>
              </a:rPr>
              <a:t>대학생 창작 </a:t>
            </a:r>
            <a:r>
              <a:rPr lang="ko-KR" altLang="en-US" sz="800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cs typeface="+mn-cs"/>
              </a:rPr>
              <a:t>모빌리티</a:t>
            </a:r>
            <a:r>
              <a:rPr lang="ko-KR" altLang="en-US" sz="8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cs typeface="+mn-cs"/>
              </a:rPr>
              <a:t> 경진대회 ｜</a:t>
            </a:r>
            <a:r>
              <a:rPr lang="en-US" altLang="ko-KR" sz="8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cs typeface="+mn-cs"/>
              </a:rPr>
              <a:t> </a:t>
            </a:r>
            <a:r>
              <a:rPr lang="ko-KR" altLang="en-US" sz="8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j-ea"/>
                <a:cs typeface="+mn-cs"/>
              </a:rPr>
              <a:t>연구계획서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7882A0BC-6A8E-1973-9790-9B99CC87F33E}"/>
              </a:ext>
            </a:extLst>
          </p:cNvPr>
          <p:cNvSpPr txBox="1">
            <a:spLocks/>
          </p:cNvSpPr>
          <p:nvPr userDrawn="1"/>
        </p:nvSpPr>
        <p:spPr>
          <a:xfrm>
            <a:off x="11921284" y="6575425"/>
            <a:ext cx="49052" cy="123111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>
              <a:defRPr sz="2600" b="0" i="0">
                <a:solidFill>
                  <a:srgbClr val="2E2F3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algn="l">
              <a:spcAft>
                <a:spcPts val="200"/>
              </a:spcAft>
            </a:pPr>
            <a:fld id="{199B2B48-1BDF-440F-8236-089F58A521B7}" type="slidenum">
              <a:rPr lang="en-US" altLang="ko-KR" sz="800" b="1" kern="1200" spc="-8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j-ea"/>
                <a:cs typeface="Roboto Lt"/>
              </a:rPr>
              <a:t>‹#›</a:t>
            </a:fld>
            <a:endParaRPr lang="ko-KR" altLang="en-US" sz="800" b="1" kern="1200" spc="-8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+mj-ea"/>
              <a:cs typeface="Roboto Lt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0431F92B-F987-E702-5AC1-8CE831C24EB0}"/>
              </a:ext>
            </a:extLst>
          </p:cNvPr>
          <p:cNvSpPr/>
          <p:nvPr userDrawn="1"/>
        </p:nvSpPr>
        <p:spPr>
          <a:xfrm>
            <a:off x="0" y="2"/>
            <a:ext cx="641965" cy="787904"/>
          </a:xfrm>
          <a:custGeom>
            <a:avLst/>
            <a:gdLst>
              <a:gd name="connsiteX0" fmla="*/ 295909 w 656720"/>
              <a:gd name="connsiteY0" fmla="*/ 0 h 806013"/>
              <a:gd name="connsiteX1" fmla="*/ 656720 w 656720"/>
              <a:gd name="connsiteY1" fmla="*/ 0 h 806013"/>
              <a:gd name="connsiteX2" fmla="*/ 78598 w 656720"/>
              <a:gd name="connsiteY2" fmla="*/ 785804 h 806013"/>
              <a:gd name="connsiteX3" fmla="*/ 0 w 656720"/>
              <a:gd name="connsiteY3" fmla="*/ 806013 h 806013"/>
              <a:gd name="connsiteX4" fmla="*/ 0 w 656720"/>
              <a:gd name="connsiteY4" fmla="*/ 429949 h 806013"/>
              <a:gd name="connsiteX5" fmla="*/ 13749 w 656720"/>
              <a:gd name="connsiteY5" fmla="*/ 425681 h 806013"/>
              <a:gd name="connsiteX6" fmla="*/ 295909 w 656720"/>
              <a:gd name="connsiteY6" fmla="*/ 0 h 806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6720" h="806013">
                <a:moveTo>
                  <a:pt x="295909" y="0"/>
                </a:moveTo>
                <a:lnTo>
                  <a:pt x="656720" y="0"/>
                </a:lnTo>
                <a:cubicBezTo>
                  <a:pt x="656720" y="369214"/>
                  <a:pt x="413532" y="681628"/>
                  <a:pt x="78598" y="785804"/>
                </a:cubicBezTo>
                <a:lnTo>
                  <a:pt x="0" y="806013"/>
                </a:lnTo>
                <a:lnTo>
                  <a:pt x="0" y="429949"/>
                </a:lnTo>
                <a:lnTo>
                  <a:pt x="13749" y="425681"/>
                </a:lnTo>
                <a:cubicBezTo>
                  <a:pt x="179563" y="355548"/>
                  <a:pt x="295909" y="191361"/>
                  <a:pt x="295909" y="0"/>
                </a:cubicBezTo>
                <a:close/>
              </a:path>
            </a:pathLst>
          </a:custGeom>
          <a:gradFill flip="none" rotWithShape="1">
            <a:gsLst>
              <a:gs pos="0">
                <a:srgbClr val="C7D2F5"/>
              </a:gs>
              <a:gs pos="77000">
                <a:srgbClr val="C7D2F5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1" name="Picture 2" descr="(사)한국자동차모빌리티안전학회">
            <a:extLst>
              <a:ext uri="{FF2B5EF4-FFF2-40B4-BE49-F238E27FC236}">
                <a16:creationId xmlns:a16="http://schemas.microsoft.com/office/drawing/2014/main" id="{342F3C8C-FDA6-7C38-A7ED-8783B55604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1813" y="290709"/>
            <a:ext cx="715388" cy="2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01FB0479-1516-6515-F58E-1DC9991A0C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22412" y="297357"/>
            <a:ext cx="1415660" cy="30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60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45B808-BDFD-E179-5555-BC9A791E9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BB62-239E-3C83-060B-2E3531475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25DC86-8A29-CC22-EC63-926E7F089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38FA6-77C0-4A92-B71C-A6556839A72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0B0566-84E0-829A-761B-58A4F3266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57F89F-CCED-1408-7286-84F195907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04D17-C92C-41E2-89B7-8820D930E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401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0BA2B-B10A-08F0-9A35-EA7804A45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43">
            <a:extLst>
              <a:ext uri="{FF2B5EF4-FFF2-40B4-BE49-F238E27FC236}">
                <a16:creationId xmlns:a16="http://schemas.microsoft.com/office/drawing/2014/main" id="{DDA80A85-5D8B-7975-CA52-E6247A3ADCC7}"/>
              </a:ext>
            </a:extLst>
          </p:cNvPr>
          <p:cNvGrpSpPr/>
          <p:nvPr/>
        </p:nvGrpSpPr>
        <p:grpSpPr>
          <a:xfrm>
            <a:off x="588000" y="323850"/>
            <a:ext cx="11344024" cy="269665"/>
            <a:chOff x="588000" y="323850"/>
            <a:chExt cx="11344024" cy="269665"/>
          </a:xfrm>
        </p:grpSpPr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72507A4E-33CF-72CA-CD47-8BC061DBA082}"/>
                </a:ext>
              </a:extLst>
            </p:cNvPr>
            <p:cNvCxnSpPr>
              <a:cxnSpLocks/>
            </p:cNvCxnSpPr>
            <p:nvPr/>
          </p:nvCxnSpPr>
          <p:spPr>
            <a:xfrm>
              <a:off x="588000" y="593515"/>
              <a:ext cx="11344024" cy="0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E3FC299C-079C-1FCD-011F-53A6F7B6170F}"/>
                </a:ext>
              </a:extLst>
            </p:cNvPr>
            <p:cNvGrpSpPr/>
            <p:nvPr/>
          </p:nvGrpSpPr>
          <p:grpSpPr>
            <a:xfrm>
              <a:off x="588000" y="323850"/>
              <a:ext cx="819459" cy="269645"/>
              <a:chOff x="641965" y="323850"/>
              <a:chExt cx="1124082" cy="269645"/>
            </a:xfrm>
          </p:grpSpPr>
          <p:sp>
            <p:nvSpPr>
              <p:cNvPr id="56" name="사각형: 둥근 위쪽 모서리 55">
                <a:extLst>
                  <a:ext uri="{FF2B5EF4-FFF2-40B4-BE49-F238E27FC236}">
                    <a16:creationId xmlns:a16="http://schemas.microsoft.com/office/drawing/2014/main" id="{EE8028DC-B574-1110-337A-48FEF1B04335}"/>
                  </a:ext>
                </a:extLst>
              </p:cNvPr>
              <p:cNvSpPr/>
              <p:nvPr/>
            </p:nvSpPr>
            <p:spPr>
              <a:xfrm>
                <a:off x="641965" y="323850"/>
                <a:ext cx="1124082" cy="269645"/>
              </a:xfrm>
              <a:prstGeom prst="round2SameRect">
                <a:avLst>
                  <a:gd name="adj1" fmla="val 36418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538BF8C-AC70-0A64-4225-6C5AE6F8F2A1}"/>
                  </a:ext>
                </a:extLst>
              </p:cNvPr>
              <p:cNvSpPr txBox="1"/>
              <p:nvPr/>
            </p:nvSpPr>
            <p:spPr>
              <a:xfrm>
                <a:off x="743117" y="344081"/>
                <a:ext cx="9217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000" b="1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전체제어</a:t>
                </a: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B1B85CD-EC96-7F9B-85F2-3B7D97142FA0}"/>
                </a:ext>
              </a:extLst>
            </p:cNvPr>
            <p:cNvGrpSpPr/>
            <p:nvPr/>
          </p:nvGrpSpPr>
          <p:grpSpPr>
            <a:xfrm>
              <a:off x="1436124" y="323850"/>
              <a:ext cx="819459" cy="269645"/>
              <a:chOff x="641965" y="323850"/>
              <a:chExt cx="1124082" cy="269645"/>
            </a:xfrm>
          </p:grpSpPr>
          <p:sp>
            <p:nvSpPr>
              <p:cNvPr id="54" name="사각형: 둥근 위쪽 모서리 53">
                <a:extLst>
                  <a:ext uri="{FF2B5EF4-FFF2-40B4-BE49-F238E27FC236}">
                    <a16:creationId xmlns:a16="http://schemas.microsoft.com/office/drawing/2014/main" id="{46297119-0521-C03E-1673-793EF9C1D2ED}"/>
                  </a:ext>
                </a:extLst>
              </p:cNvPr>
              <p:cNvSpPr/>
              <p:nvPr/>
            </p:nvSpPr>
            <p:spPr>
              <a:xfrm>
                <a:off x="641965" y="323850"/>
                <a:ext cx="1124082" cy="269645"/>
              </a:xfrm>
              <a:prstGeom prst="round2SameRect">
                <a:avLst>
                  <a:gd name="adj1" fmla="val 36418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832AF4-0D8C-8FEB-AC95-E5EF12CEA084}"/>
                  </a:ext>
                </a:extLst>
              </p:cNvPr>
              <p:cNvSpPr txBox="1"/>
              <p:nvPr/>
            </p:nvSpPr>
            <p:spPr>
              <a:xfrm>
                <a:off x="743117" y="344081"/>
                <a:ext cx="9217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000" b="1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인지판단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C60FC2C2-F6BB-473C-10BA-A5F757B6744D}"/>
                </a:ext>
              </a:extLst>
            </p:cNvPr>
            <p:cNvGrpSpPr/>
            <p:nvPr/>
          </p:nvGrpSpPr>
          <p:grpSpPr>
            <a:xfrm>
              <a:off x="2284248" y="323850"/>
              <a:ext cx="506487" cy="269645"/>
              <a:chOff x="641965" y="323850"/>
              <a:chExt cx="1124082" cy="269645"/>
            </a:xfrm>
          </p:grpSpPr>
          <p:sp>
            <p:nvSpPr>
              <p:cNvPr id="52" name="사각형: 둥근 위쪽 모서리 51">
                <a:extLst>
                  <a:ext uri="{FF2B5EF4-FFF2-40B4-BE49-F238E27FC236}">
                    <a16:creationId xmlns:a16="http://schemas.microsoft.com/office/drawing/2014/main" id="{B72EDD8B-4B22-8688-C154-8604D94F6329}"/>
                  </a:ext>
                </a:extLst>
              </p:cNvPr>
              <p:cNvSpPr/>
              <p:nvPr/>
            </p:nvSpPr>
            <p:spPr>
              <a:xfrm>
                <a:off x="641965" y="323850"/>
                <a:ext cx="1124082" cy="269645"/>
              </a:xfrm>
              <a:prstGeom prst="round2SameRect">
                <a:avLst>
                  <a:gd name="adj1" fmla="val 36418"/>
                  <a:gd name="adj2" fmla="val 0"/>
                </a:avLst>
              </a:prstGeom>
              <a:solidFill>
                <a:srgbClr val="00489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F73513F-C559-95B9-2AD9-96E16FBCB99E}"/>
                  </a:ext>
                </a:extLst>
              </p:cNvPr>
              <p:cNvSpPr txBox="1"/>
              <p:nvPr/>
            </p:nvSpPr>
            <p:spPr>
              <a:xfrm>
                <a:off x="728702" y="344081"/>
                <a:ext cx="95060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000" b="1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제어</a:t>
                </a: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D70FAA5E-64F2-6159-F8EB-965D3F18F8CB}"/>
                </a:ext>
              </a:extLst>
            </p:cNvPr>
            <p:cNvGrpSpPr/>
            <p:nvPr/>
          </p:nvGrpSpPr>
          <p:grpSpPr>
            <a:xfrm>
              <a:off x="2819400" y="323850"/>
              <a:ext cx="1530514" cy="269645"/>
              <a:chOff x="3409950" y="323850"/>
              <a:chExt cx="1530514" cy="269645"/>
            </a:xfrm>
          </p:grpSpPr>
          <p:sp>
            <p:nvSpPr>
              <p:cNvPr id="50" name="사각형: 둥근 위쪽 모서리 49">
                <a:extLst>
                  <a:ext uri="{FF2B5EF4-FFF2-40B4-BE49-F238E27FC236}">
                    <a16:creationId xmlns:a16="http://schemas.microsoft.com/office/drawing/2014/main" id="{89085F79-E4A5-F3C0-2ED6-44D0D15061F1}"/>
                  </a:ext>
                </a:extLst>
              </p:cNvPr>
              <p:cNvSpPr/>
              <p:nvPr/>
            </p:nvSpPr>
            <p:spPr>
              <a:xfrm>
                <a:off x="3409950" y="323850"/>
                <a:ext cx="1530514" cy="269645"/>
              </a:xfrm>
              <a:prstGeom prst="round2SameRect">
                <a:avLst>
                  <a:gd name="adj1" fmla="val 36418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542EDAF-F046-2507-8C13-05DB08797077}"/>
                  </a:ext>
                </a:extLst>
              </p:cNvPr>
              <p:cNvSpPr txBox="1"/>
              <p:nvPr/>
            </p:nvSpPr>
            <p:spPr>
              <a:xfrm>
                <a:off x="3416025" y="344081"/>
                <a:ext cx="1518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MORAI </a:t>
                </a:r>
                <a:r>
                  <a:rPr lang="ko-KR" altLang="en-US" sz="1000" b="1" spc="-5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시뮬레이션 부문</a:t>
                </a:r>
              </a:p>
            </p:txBody>
          </p:sp>
        </p:grp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E8C4DD7-2834-068D-A961-0533C9323777}"/>
              </a:ext>
            </a:extLst>
          </p:cNvPr>
          <p:cNvGrpSpPr/>
          <p:nvPr/>
        </p:nvGrpSpPr>
        <p:grpSpPr>
          <a:xfrm>
            <a:off x="430305" y="727444"/>
            <a:ext cx="852754" cy="184666"/>
            <a:chOff x="699247" y="2063803"/>
            <a:chExt cx="852754" cy="184666"/>
          </a:xfrm>
        </p:grpSpPr>
        <p:sp>
          <p:nvSpPr>
            <p:cNvPr id="80" name="Rectangle 130">
              <a:extLst>
                <a:ext uri="{FF2B5EF4-FFF2-40B4-BE49-F238E27FC236}">
                  <a16:creationId xmlns:a16="http://schemas.microsoft.com/office/drawing/2014/main" id="{DC72E45B-99CD-7874-8E21-DB61097A8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096" y="2063803"/>
              <a:ext cx="58990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ko-KR" altLang="en-US" sz="12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브레이크</a:t>
              </a: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849E80BD-4DC9-B971-9FE9-10B746D29FFE}"/>
                </a:ext>
              </a:extLst>
            </p:cNvPr>
            <p:cNvSpPr/>
            <p:nvPr/>
          </p:nvSpPr>
          <p:spPr>
            <a:xfrm>
              <a:off x="699247" y="2066489"/>
              <a:ext cx="179294" cy="179294"/>
            </a:xfrm>
            <a:prstGeom prst="ellipse">
              <a:avLst/>
            </a:prstGeom>
            <a:gradFill flip="none" rotWithShape="1">
              <a:gsLst>
                <a:gs pos="0">
                  <a:srgbClr val="C7D2F5"/>
                </a:gs>
                <a:gs pos="77000">
                  <a:srgbClr val="C7D2F5">
                    <a:alpha val="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srgbClr val="004898"/>
                </a:solidFill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96874E1B-90B1-23C2-752D-950E78B5EBF7}"/>
              </a:ext>
            </a:extLst>
          </p:cNvPr>
          <p:cNvGrpSpPr/>
          <p:nvPr/>
        </p:nvGrpSpPr>
        <p:grpSpPr>
          <a:xfrm>
            <a:off x="326142" y="1011220"/>
            <a:ext cx="3743834" cy="267231"/>
            <a:chOff x="326142" y="1109831"/>
            <a:chExt cx="3743834" cy="267231"/>
          </a:xfrm>
        </p:grpSpPr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8ECE85D1-2008-1280-EE52-5F4FB7C51875}"/>
                </a:ext>
              </a:extLst>
            </p:cNvPr>
            <p:cNvCxnSpPr>
              <a:cxnSpLocks/>
            </p:cNvCxnSpPr>
            <p:nvPr/>
          </p:nvCxnSpPr>
          <p:spPr>
            <a:xfrm>
              <a:off x="435429" y="1109831"/>
              <a:ext cx="3634547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08293B50-AF4A-055E-90D2-AC63B1F39472}"/>
                </a:ext>
              </a:extLst>
            </p:cNvPr>
            <p:cNvCxnSpPr>
              <a:cxnSpLocks/>
            </p:cNvCxnSpPr>
            <p:nvPr/>
          </p:nvCxnSpPr>
          <p:spPr>
            <a:xfrm>
              <a:off x="411609" y="1109831"/>
              <a:ext cx="735873" cy="0"/>
            </a:xfrm>
            <a:prstGeom prst="line">
              <a:avLst/>
            </a:prstGeom>
            <a:ln w="38100">
              <a:solidFill>
                <a:srgbClr val="004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F89E941-FCDC-D3EF-3266-B1C1CB2704BB}"/>
                </a:ext>
              </a:extLst>
            </p:cNvPr>
            <p:cNvSpPr txBox="1"/>
            <p:nvPr/>
          </p:nvSpPr>
          <p:spPr>
            <a:xfrm>
              <a:off x="326142" y="1130841"/>
              <a:ext cx="67197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004898"/>
                  </a:solidFill>
                  <a:latin typeface="+mj-ea"/>
                  <a:ea typeface="+mj-ea"/>
                </a:rPr>
                <a:t>개선사항</a:t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A9EE0E1-D90B-2993-77D4-C92773C7F95A}"/>
              </a:ext>
            </a:extLst>
          </p:cNvPr>
          <p:cNvGrpSpPr/>
          <p:nvPr/>
        </p:nvGrpSpPr>
        <p:grpSpPr>
          <a:xfrm>
            <a:off x="4143401" y="1011220"/>
            <a:ext cx="3449705" cy="267231"/>
            <a:chOff x="326142" y="1109831"/>
            <a:chExt cx="3449705" cy="267231"/>
          </a:xfrm>
        </p:grpSpPr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D35E6D1A-0B0A-2619-865E-BE317816FD89}"/>
                </a:ext>
              </a:extLst>
            </p:cNvPr>
            <p:cNvCxnSpPr>
              <a:cxnSpLocks/>
            </p:cNvCxnSpPr>
            <p:nvPr/>
          </p:nvCxnSpPr>
          <p:spPr>
            <a:xfrm>
              <a:off x="435429" y="1109831"/>
              <a:ext cx="334041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CCF54D53-A68B-72DC-0F2C-EA84DF3E19FB}"/>
                </a:ext>
              </a:extLst>
            </p:cNvPr>
            <p:cNvCxnSpPr>
              <a:cxnSpLocks/>
            </p:cNvCxnSpPr>
            <p:nvPr/>
          </p:nvCxnSpPr>
          <p:spPr>
            <a:xfrm>
              <a:off x="411609" y="1109831"/>
              <a:ext cx="735873" cy="0"/>
            </a:xfrm>
            <a:prstGeom prst="line">
              <a:avLst/>
            </a:prstGeom>
            <a:ln w="38100">
              <a:solidFill>
                <a:srgbClr val="004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079CEBB-4CE7-CC2D-1BCC-F80E506FC566}"/>
                </a:ext>
              </a:extLst>
            </p:cNvPr>
            <p:cNvSpPr txBox="1"/>
            <p:nvPr/>
          </p:nvSpPr>
          <p:spPr>
            <a:xfrm>
              <a:off x="326142" y="1130841"/>
              <a:ext cx="99257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004898"/>
                  </a:solidFill>
                  <a:latin typeface="+mj-ea"/>
                  <a:ea typeface="+mj-ea"/>
                </a:rPr>
                <a:t>현재 진행 상황</a:t>
              </a: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F9D1D9A-30C9-4BE8-564E-FE9C1C3A03C2}"/>
              </a:ext>
            </a:extLst>
          </p:cNvPr>
          <p:cNvGrpSpPr/>
          <p:nvPr/>
        </p:nvGrpSpPr>
        <p:grpSpPr>
          <a:xfrm>
            <a:off x="7673789" y="1011220"/>
            <a:ext cx="4258235" cy="267231"/>
            <a:chOff x="326142" y="1109831"/>
            <a:chExt cx="4258235" cy="267231"/>
          </a:xfrm>
        </p:grpSpPr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949D62E8-41A7-D0C2-195A-40E17CFAB1D0}"/>
                </a:ext>
              </a:extLst>
            </p:cNvPr>
            <p:cNvCxnSpPr>
              <a:cxnSpLocks/>
            </p:cNvCxnSpPr>
            <p:nvPr/>
          </p:nvCxnSpPr>
          <p:spPr>
            <a:xfrm>
              <a:off x="435429" y="1109831"/>
              <a:ext cx="414894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2CA7748C-B5D2-A0E6-754A-91E8EB35F9D5}"/>
                </a:ext>
              </a:extLst>
            </p:cNvPr>
            <p:cNvCxnSpPr>
              <a:cxnSpLocks/>
            </p:cNvCxnSpPr>
            <p:nvPr/>
          </p:nvCxnSpPr>
          <p:spPr>
            <a:xfrm>
              <a:off x="411609" y="1109831"/>
              <a:ext cx="735873" cy="0"/>
            </a:xfrm>
            <a:prstGeom prst="line">
              <a:avLst/>
            </a:prstGeom>
            <a:ln w="38100">
              <a:solidFill>
                <a:srgbClr val="004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60BC07B-F62B-3948-579F-94B86679EE2B}"/>
                </a:ext>
              </a:extLst>
            </p:cNvPr>
            <p:cNvSpPr txBox="1"/>
            <p:nvPr/>
          </p:nvSpPr>
          <p:spPr>
            <a:xfrm>
              <a:off x="326142" y="1130841"/>
              <a:ext cx="99257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00" b="1" spc="-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004898"/>
                  </a:solidFill>
                  <a:latin typeface="+mj-ea"/>
                  <a:ea typeface="+mj-ea"/>
                </a:rPr>
                <a:t>추후 연구 방향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8E7EE323-6886-B190-2D22-38BC781E5984}"/>
              </a:ext>
            </a:extLst>
          </p:cNvPr>
          <p:cNvSpPr txBox="1"/>
          <p:nvPr/>
        </p:nvSpPr>
        <p:spPr>
          <a:xfrm>
            <a:off x="1416433" y="1182122"/>
            <a:ext cx="2919082" cy="628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>
              <a:lnSpc>
                <a:spcPct val="120000"/>
              </a:lnSpc>
            </a:pPr>
            <a:r>
              <a:rPr lang="ko-KR" altLang="en-US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기존 </a:t>
            </a:r>
            <a:r>
              <a:rPr lang="en-US" altLang="ko-KR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오픈 루프 브레이크 시스템 </a:t>
            </a:r>
            <a:endParaRPr lang="en-US" altLang="ko-KR" sz="1000" b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71450" indent="-171450" algn="l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브레이크 유격 측정 및 브레이크 길이 측정 없이 신호가 오면</a:t>
            </a:r>
            <a:r>
              <a:rPr lang="en-US" altLang="ko-KR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2</a:t>
            </a:r>
            <a:r>
              <a:rPr lang="ko-KR" altLang="en-US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초 동안 브레이크 작동 후 복귀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86DEF79-0B49-3F7D-C2E5-5071FE56E327}"/>
              </a:ext>
            </a:extLst>
          </p:cNvPr>
          <p:cNvGrpSpPr/>
          <p:nvPr/>
        </p:nvGrpSpPr>
        <p:grpSpPr>
          <a:xfrm>
            <a:off x="2576443" y="2023110"/>
            <a:ext cx="277696" cy="241682"/>
            <a:chOff x="4638411" y="2545386"/>
            <a:chExt cx="328993" cy="286328"/>
          </a:xfrm>
        </p:grpSpPr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96489FB3-F2BF-F78E-5CA2-1924E4068724}"/>
                </a:ext>
              </a:extLst>
            </p:cNvPr>
            <p:cNvGrpSpPr/>
            <p:nvPr/>
          </p:nvGrpSpPr>
          <p:grpSpPr>
            <a:xfrm>
              <a:off x="4638411" y="2730113"/>
              <a:ext cx="328993" cy="101601"/>
              <a:chOff x="4008582" y="1893454"/>
              <a:chExt cx="628072" cy="193964"/>
            </a:xfrm>
          </p:grpSpPr>
          <p:cxnSp>
            <p:nvCxnSpPr>
              <p:cNvPr id="108" name="직선 연결선 107">
                <a:extLst>
                  <a:ext uri="{FF2B5EF4-FFF2-40B4-BE49-F238E27FC236}">
                    <a16:creationId xmlns:a16="http://schemas.microsoft.com/office/drawing/2014/main" id="{53D76461-F04B-DC2A-ED7C-277E9EE9890E}"/>
                  </a:ext>
                </a:extLst>
              </p:cNvPr>
              <p:cNvCxnSpPr/>
              <p:nvPr/>
            </p:nvCxnSpPr>
            <p:spPr>
              <a:xfrm>
                <a:off x="4008582" y="1893455"/>
                <a:ext cx="314036" cy="193963"/>
              </a:xfrm>
              <a:prstGeom prst="line">
                <a:avLst/>
              </a:prstGeom>
              <a:ln w="63500" cap="rnd">
                <a:solidFill>
                  <a:srgbClr val="004898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A2FB8BE3-6498-717F-768F-A3A931740F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22618" y="1893454"/>
                <a:ext cx="314036" cy="193963"/>
              </a:xfrm>
              <a:prstGeom prst="line">
                <a:avLst/>
              </a:prstGeom>
              <a:ln w="63500" cap="rnd">
                <a:solidFill>
                  <a:srgbClr val="004898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2302A728-2EA5-3F63-F572-B2B278E9F5B8}"/>
                </a:ext>
              </a:extLst>
            </p:cNvPr>
            <p:cNvGrpSpPr/>
            <p:nvPr/>
          </p:nvGrpSpPr>
          <p:grpSpPr>
            <a:xfrm>
              <a:off x="4638411" y="2545386"/>
              <a:ext cx="328993" cy="101601"/>
              <a:chOff x="4008582" y="1893454"/>
              <a:chExt cx="628072" cy="193964"/>
            </a:xfrm>
          </p:grpSpPr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00D91266-072A-D4BD-7D56-E4FC5B14498A}"/>
                  </a:ext>
                </a:extLst>
              </p:cNvPr>
              <p:cNvCxnSpPr/>
              <p:nvPr/>
            </p:nvCxnSpPr>
            <p:spPr>
              <a:xfrm>
                <a:off x="4008582" y="1893455"/>
                <a:ext cx="314036" cy="193963"/>
              </a:xfrm>
              <a:prstGeom prst="line">
                <a:avLst/>
              </a:prstGeom>
              <a:ln w="63500" cap="rnd">
                <a:solidFill>
                  <a:srgbClr val="004898">
                    <a:alpha val="5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C2E09039-9AF2-4580-BD50-1359646C9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22618" y="1893454"/>
                <a:ext cx="314036" cy="193963"/>
              </a:xfrm>
              <a:prstGeom prst="line">
                <a:avLst/>
              </a:prstGeom>
              <a:ln w="63500" cap="rnd">
                <a:solidFill>
                  <a:srgbClr val="004898">
                    <a:alpha val="5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26316FF-5022-0056-2D0A-7E74E238C27A}"/>
              </a:ext>
            </a:extLst>
          </p:cNvPr>
          <p:cNvSpPr txBox="1"/>
          <p:nvPr/>
        </p:nvSpPr>
        <p:spPr>
          <a:xfrm>
            <a:off x="7937056" y="1295542"/>
            <a:ext cx="4172768" cy="1840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endParaRPr lang="en-US" altLang="ko-KR" sz="300" b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highlight>
                <a:srgbClr val="C0C0C0"/>
              </a:highlight>
              <a:latin typeface="+mj-lt"/>
              <a:ea typeface="+mj-ea"/>
            </a:endParaRPr>
          </a:p>
          <a:p>
            <a:r>
              <a:rPr lang="en-US" altLang="ko-KR" sz="1000" b="1" dirty="0"/>
              <a:t>1. </a:t>
            </a:r>
            <a:r>
              <a:rPr lang="ko-KR" altLang="en-US" sz="1000" b="1" dirty="0"/>
              <a:t>통합형 브레이크 제어 </a:t>
            </a:r>
            <a:r>
              <a:rPr lang="en-US" altLang="ko-KR" sz="1000" b="1" dirty="0"/>
              <a:t>PCB </a:t>
            </a:r>
            <a:r>
              <a:rPr lang="ko-KR" altLang="en-US" sz="1000" b="1" dirty="0"/>
              <a:t>설계</a:t>
            </a: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이더넷 보드</a:t>
            </a:r>
            <a:r>
              <a:rPr lang="en-US" altLang="ko-KR" sz="1000" dirty="0"/>
              <a:t>, MCU, </a:t>
            </a:r>
            <a:r>
              <a:rPr lang="ko-KR" altLang="en-US" sz="1000" dirty="0"/>
              <a:t>모터드라이버를 하나의 </a:t>
            </a:r>
            <a:r>
              <a:rPr lang="en-US" altLang="ko-KR" sz="1000" dirty="0"/>
              <a:t>PCB</a:t>
            </a:r>
            <a:r>
              <a:rPr lang="ko-KR" altLang="en-US" sz="1000" dirty="0"/>
              <a:t>로 통합하는 설계 진행 예정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시스템 일체화를 통해 배선 복잡도와 부피를 줄이는 방향으로 개선 </a:t>
            </a:r>
          </a:p>
          <a:p>
            <a:r>
              <a:rPr lang="en-US" altLang="ko-KR" sz="1000" b="1" dirty="0"/>
              <a:t>2. PCB </a:t>
            </a:r>
            <a:r>
              <a:rPr lang="ko-KR" altLang="en-US" sz="1000" b="1" dirty="0"/>
              <a:t>설계 학습 및 하드웨어 최적화</a:t>
            </a: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PCB </a:t>
            </a:r>
            <a:r>
              <a:rPr lang="ko-KR" altLang="en-US" sz="1000" dirty="0"/>
              <a:t>설계 과정 전반을 학습하며 브레이크 제어 회로를 직접 설계할 예정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전원 및 신호 라우팅 구조를 최적화하여 시스템 안정성 확보 목표 </a:t>
            </a:r>
          </a:p>
          <a:p>
            <a:r>
              <a:rPr lang="en-US" altLang="ko-KR" sz="1000" b="1" dirty="0"/>
              <a:t>3. </a:t>
            </a:r>
            <a:r>
              <a:rPr lang="ko-KR" altLang="en-US" sz="1000" b="1" dirty="0"/>
              <a:t>모터드라이버 발열 저감 연구</a:t>
            </a: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발열 최소화를 위한 부품 선정</a:t>
            </a:r>
            <a:r>
              <a:rPr lang="en-US" altLang="ko-KR" sz="1000" dirty="0"/>
              <a:t>, </a:t>
            </a:r>
            <a:r>
              <a:rPr lang="ko-KR" altLang="en-US" sz="1000" dirty="0"/>
              <a:t>패턴 설계</a:t>
            </a:r>
            <a:r>
              <a:rPr lang="en-US" altLang="ko-KR" sz="1000" dirty="0"/>
              <a:t>, </a:t>
            </a:r>
            <a:r>
              <a:rPr lang="ko-KR" altLang="en-US" sz="1000" dirty="0"/>
              <a:t>방열 구조에 대해 중점적으로 검토 예정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64954-3984-E18C-42B0-B2D594C8F385}"/>
              </a:ext>
            </a:extLst>
          </p:cNvPr>
          <p:cNvSpPr txBox="1"/>
          <p:nvPr/>
        </p:nvSpPr>
        <p:spPr>
          <a:xfrm>
            <a:off x="4247776" y="1295542"/>
            <a:ext cx="373487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1. </a:t>
            </a:r>
            <a:r>
              <a:rPr lang="ko-KR" altLang="en-US" sz="1000" b="1" dirty="0"/>
              <a:t>브레이크 보드 제어 코드 개발</a:t>
            </a: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선형 센서를 이용해 브레이크의 현재 위치를 측정하고</a:t>
            </a:r>
            <a:r>
              <a:rPr lang="en-US" altLang="ko-KR" sz="1000" dirty="0"/>
              <a:t>, </a:t>
            </a:r>
            <a:r>
              <a:rPr lang="ko-KR" altLang="en-US" sz="1000" dirty="0"/>
              <a:t>목표 위치에 따라 모터를 전진</a:t>
            </a:r>
            <a:r>
              <a:rPr lang="en-US" altLang="ko-KR" sz="1000" dirty="0"/>
              <a:t>·</a:t>
            </a:r>
            <a:r>
              <a:rPr lang="ko-KR" altLang="en-US" sz="1000" dirty="0"/>
              <a:t>후진</a:t>
            </a:r>
            <a:r>
              <a:rPr lang="en-US" altLang="ko-KR" sz="1000" dirty="0"/>
              <a:t>·</a:t>
            </a:r>
            <a:r>
              <a:rPr lang="ko-KR" altLang="en-US" sz="1000" dirty="0"/>
              <a:t>정지하도록 제어 코드 구현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브레이크 상태에 따라 위치를 구분하여 동작하도록 기본 제어 로직 구성 </a:t>
            </a:r>
          </a:p>
          <a:p>
            <a:r>
              <a:rPr lang="en-US" altLang="ko-KR" sz="1000" b="1" dirty="0"/>
              <a:t>2. </a:t>
            </a:r>
            <a:r>
              <a:rPr lang="ko-KR" altLang="en-US" sz="1000" b="1" dirty="0"/>
              <a:t>브레이크 구동을 위한 통신 연동 로직 구현</a:t>
            </a: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UDP </a:t>
            </a:r>
            <a:r>
              <a:rPr lang="ko-KR" altLang="en-US" sz="1000" dirty="0"/>
              <a:t>통신을 통해 외부 명령을 수신하고</a:t>
            </a:r>
            <a:r>
              <a:rPr lang="en-US" altLang="ko-KR" sz="1000" dirty="0"/>
              <a:t>, </a:t>
            </a:r>
            <a:r>
              <a:rPr lang="ko-KR" altLang="en-US" sz="1000" dirty="0"/>
              <a:t>비상정지 및 브레이크 동작이 반영되도록 브레이크 보드와 연동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수신 패킷 조건에 따라 제동 여부를 판단하도록 하여 실제 시스템 연계가 가능하도록 구현 </a:t>
            </a:r>
          </a:p>
          <a:p>
            <a:r>
              <a:rPr lang="en-US" altLang="ko-KR" sz="1000" b="1" dirty="0"/>
              <a:t>3. </a:t>
            </a:r>
            <a:r>
              <a:rPr lang="ko-KR" altLang="en-US" sz="1000" b="1" dirty="0"/>
              <a:t>안전 제어 및 디버깅 기능 추가</a:t>
            </a: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비상정지 명령이 들어올 경우 즉시 </a:t>
            </a:r>
            <a:r>
              <a:rPr lang="en-US" altLang="ko-KR" sz="1000" dirty="0"/>
              <a:t>Emergency </a:t>
            </a:r>
            <a:r>
              <a:rPr lang="ko-KR" altLang="en-US" sz="1000" dirty="0"/>
              <a:t>위치로 이동하고 일정 시간 유지되도록 안전 로직 구현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통신 상태</a:t>
            </a:r>
            <a:r>
              <a:rPr lang="en-US" altLang="ko-KR" sz="1000" dirty="0"/>
              <a:t>, </a:t>
            </a:r>
            <a:r>
              <a:rPr lang="ko-KR" altLang="en-US" sz="1000" dirty="0"/>
              <a:t>현재 위치</a:t>
            </a:r>
            <a:r>
              <a:rPr lang="en-US" altLang="ko-KR" sz="1000" dirty="0"/>
              <a:t>, </a:t>
            </a:r>
            <a:r>
              <a:rPr lang="ko-KR" altLang="en-US" sz="1000" dirty="0"/>
              <a:t>목표 위치</a:t>
            </a:r>
            <a:r>
              <a:rPr lang="en-US" altLang="ko-KR" sz="1000" dirty="0"/>
              <a:t>, </a:t>
            </a:r>
            <a:r>
              <a:rPr lang="ko-KR" altLang="en-US" sz="1000" dirty="0"/>
              <a:t>제동 상태를 시리얼 모니터로 확인할 수 있도록 하여 테스트 및 검증 환경 구성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E5903E-3455-9F07-BA78-701BDFD878E8}"/>
              </a:ext>
            </a:extLst>
          </p:cNvPr>
          <p:cNvSpPr txBox="1"/>
          <p:nvPr/>
        </p:nvSpPr>
        <p:spPr>
          <a:xfrm>
            <a:off x="1416434" y="2387135"/>
            <a:ext cx="2927406" cy="136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>
              <a:lnSpc>
                <a:spcPct val="120000"/>
              </a:lnSpc>
            </a:pPr>
            <a:r>
              <a:rPr lang="ko-KR" altLang="en-US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개선 </a:t>
            </a:r>
            <a:r>
              <a:rPr lang="en-US" altLang="ko-KR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000" b="1" spc="-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폐루프</a:t>
            </a:r>
            <a:r>
              <a:rPr lang="ko-KR" altLang="en-US" sz="10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브레이크 시스템 구축</a:t>
            </a:r>
            <a:endParaRPr lang="en-US" altLang="ko-KR" sz="1000" b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171450" indent="-171450" algn="l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리니어 가변 저항을 이용하여</a:t>
            </a:r>
            <a:r>
              <a:rPr lang="en-US" altLang="ko-KR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인코더 시스템을 구축하고</a:t>
            </a:r>
            <a:r>
              <a:rPr lang="en-US" altLang="ko-KR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브레이크 위치를 지속적으로 추적하여 브레이크 유격을 조절함</a:t>
            </a:r>
            <a:r>
              <a:rPr lang="en-US" altLang="ko-KR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 marL="171450" indent="-171450" algn="l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ASMS</a:t>
            </a:r>
            <a:r>
              <a:rPr lang="ko-KR" altLang="en-US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에서 보내는 긴급제동에서의 브레이크 길이와 평시 브레이크의 길이의 차이를 두어</a:t>
            </a:r>
            <a:r>
              <a:rPr lang="en-US" altLang="ko-KR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브레이크 세기를 조절함</a:t>
            </a:r>
            <a:r>
              <a:rPr lang="en-US" altLang="ko-KR" sz="10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pic>
        <p:nvPicPr>
          <p:cNvPr id="4" name="그림 3" descr="The image shows a pair of two identical black devices with metal clamps, placed on a white surface, with a hand holding them, and various alphanumeric codes and symbols printed on them.&#10;&#10;AI 생성 콘텐츠는 정확하지 않을 수 있습니다.">
            <a:extLst>
              <a:ext uri="{FF2B5EF4-FFF2-40B4-BE49-F238E27FC236}">
                <a16:creationId xmlns:a16="http://schemas.microsoft.com/office/drawing/2014/main" id="{F46F82E2-2828-CB28-C5C9-13186661F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0" y="2507962"/>
            <a:ext cx="1148539" cy="1125130"/>
          </a:xfrm>
          <a:prstGeom prst="rect">
            <a:avLst/>
          </a:prstGeom>
        </p:spPr>
      </p:pic>
      <p:pic>
        <p:nvPicPr>
          <p:cNvPr id="8" name="그림 7" descr="The image shows a mechanical diagram with labeled components and wiring, possibly indicating a product's inspection and technical specifications.&#10;&#10;AI 생성 콘텐츠는 정확하지 않을 수 있습니다.">
            <a:extLst>
              <a:ext uri="{FF2B5EF4-FFF2-40B4-BE49-F238E27FC236}">
                <a16:creationId xmlns:a16="http://schemas.microsoft.com/office/drawing/2014/main" id="{6DAF945C-492B-83F4-BFD3-9F07AE91E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0" y="1327128"/>
            <a:ext cx="1147898" cy="90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4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273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정제윤</dc:creator>
  <cp:lastModifiedBy>정제윤</cp:lastModifiedBy>
  <cp:revision>2</cp:revision>
  <dcterms:created xsi:type="dcterms:W3CDTF">2026-04-11T14:03:10Z</dcterms:created>
  <dcterms:modified xsi:type="dcterms:W3CDTF">2026-04-11T14:30:34Z</dcterms:modified>
</cp:coreProperties>
</file>